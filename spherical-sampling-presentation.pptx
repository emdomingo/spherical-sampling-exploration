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70" r:id="rId5"/>
    <p:sldId id="286" r:id="rId6"/>
    <p:sldId id="296" r:id="rId7"/>
    <p:sldId id="259" r:id="rId8"/>
    <p:sldId id="287" r:id="rId9"/>
    <p:sldId id="295" r:id="rId10"/>
    <p:sldId id="269" r:id="rId11"/>
    <p:sldId id="274" r:id="rId12"/>
    <p:sldId id="260" r:id="rId13"/>
    <p:sldId id="297" r:id="rId14"/>
    <p:sldId id="273" r:id="rId15"/>
    <p:sldId id="276" r:id="rId16"/>
    <p:sldId id="288" r:id="rId17"/>
    <p:sldId id="289" r:id="rId18"/>
    <p:sldId id="301" r:id="rId19"/>
    <p:sldId id="302" r:id="rId20"/>
    <p:sldId id="303" r:id="rId21"/>
    <p:sldId id="304" r:id="rId22"/>
    <p:sldId id="306" r:id="rId23"/>
    <p:sldId id="307" r:id="rId24"/>
    <p:sldId id="313" r:id="rId25"/>
    <p:sldId id="309" r:id="rId26"/>
    <p:sldId id="31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 autoAdjust="0"/>
    <p:restoredTop sz="81202" autoAdjust="0"/>
  </p:normalViewPr>
  <p:slideViewPr>
    <p:cSldViewPr snapToGrid="0">
      <p:cViewPr>
        <p:scale>
          <a:sx n="100" d="100"/>
          <a:sy n="100" d="100"/>
        </p:scale>
        <p:origin x="616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63464-9F2D-9E40-B0C0-9507C65677EC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A27B4-FAC8-4442-81E6-2E0E212D7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7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2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do we represent and transform these functions efficiently?</a:t>
            </a:r>
            <a:r>
              <a:rPr lang="en-US" dirty="0"/>
              <a:t> And to answer that, we'll borrow a very familiar idea from one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87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Motivation: Show the familiar 1D format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"Just as any periodic 1D signal can be broken down into a sum of simple sines and cosines — each weighted by a coefficient — the same idea extends to the sphere. Instead of complex exponentials indexed by a single frequency, we use spherical harmonics indexed by degree and order. The coefficients play the same role: they tell you how much of each 'frequency shape' is present in your signal."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38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F928-2A63-6928-B9DB-0006CB2A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DB916-3C4D-5230-FB07-A81AFCF5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6E1F7-A2C7-957D-4DFF-9946663A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spherical harmonics are to the sphere what complex exponentials are to the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5E1FE-0DDD-F5AD-5B96-C640410E6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0898-4FA2-A719-3824-97082E5C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BF14E-E80B-6605-18D9-B63A8ACD6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E95F1-7193-DB3B-E10F-A30B4DE57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BBC13-FAEC-87ED-BC39-81F584ED3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3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handling the azimuthal direction. The order m handles how many oscillations occur as we go through the equator.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8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4E4B-260D-0B46-569F-CF81321E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EA0B0-25C6-4A02-17B9-EB7C9C3B9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FEBB4-D624-5EE8-C74E-0CBF6909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handle the </a:t>
            </a:r>
            <a:r>
              <a:rPr lang="en-US" dirty="0" err="1"/>
              <a:t>colatitudinal</a:t>
            </a:r>
            <a:r>
              <a:rPr lang="en-US" dirty="0"/>
              <a:t> direction — they control how the function varies from pole to equator.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C3B9A-641E-2A8F-9CAF-2AAB4A12B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32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65880-EB50-1C92-82B1-48322913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52091-2501-5F95-6033-91238D940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050C4-6920-D329-A75B-4B0BFF08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Spherical Harmonics forms the orthonormal and complete basis for functions that live on the sphere</a:t>
            </a:r>
          </a:p>
          <a:p>
            <a:endParaRPr lang="en-AU" dirty="0"/>
          </a:p>
          <a:p>
            <a:r>
              <a:rPr lang="en-AU" dirty="0"/>
              <a:t>Assoc Legendre Functions for n = 0, 1, and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E0D77-7D83-7D5C-B975-476374DCA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31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go down this pyramid, we increase the number of terms by 2N+1 so for a degree N we get a total number of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44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we only have access to the function at a finite number of sample points?</a:t>
                </a:r>
              </a:p>
              <a:p>
                <a:endParaRPr lang="en-US" dirty="0"/>
              </a:p>
              <a:p>
                <a:r>
                  <a:rPr lang="en-AU" dirty="0"/>
                  <a:t>The </a:t>
                </a:r>
                <a:r>
                  <a:rPr lang="en-AU" b="1" dirty="0"/>
                  <a:t>forward SHT</a:t>
                </a:r>
                <a:r>
                  <a:rPr lang="en-AU" dirty="0"/>
                  <a:t> takes a spherical function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𝜙</m:t>
                        </m:r>
                      </m:e>
                    </m:d>
                  </m:oMath>
                </a14:m>
                <a:r>
                  <a:rPr lang="en-AU" dirty="0"/>
                  <a:t>and computes its spectral coefficients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b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AU" dirty="0"/>
                  <a:t>via an integral of the function multiplied by the conjugate of each spherical harmonic over the sphere.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we only have access to the function at a finite number of sample points?</a:t>
                </a:r>
              </a:p>
              <a:p>
                <a:endParaRPr lang="en-US" dirty="0"/>
              </a:p>
              <a:p>
                <a:r>
                  <a:rPr lang="en-AU" dirty="0"/>
                  <a:t>The </a:t>
                </a:r>
                <a:r>
                  <a:rPr lang="en-AU" b="1" dirty="0"/>
                  <a:t>forward SHT</a:t>
                </a:r>
                <a:r>
                  <a:rPr lang="en-AU" dirty="0"/>
                  <a:t> takes a spherical function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(𝜃ⓜ,𝜙)</a:t>
                </a:r>
                <a:r>
                  <a:rPr lang="en-AU" dirty="0"/>
                  <a:t>and computes its spectral coefficients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𝑓_𝑛^𝑚</a:t>
                </a:r>
                <a:r>
                  <a:rPr lang="en-AU" dirty="0"/>
                  <a:t>via an integral of the function multiplied by the conjugate of each spherical harmonic over the sphere.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03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Thus for a band limited function of degree N, we only deal with X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86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53E9-6F5D-C791-F9B7-3B1513655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37E8A-34C6-5659-57E0-7456BC60A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00C18-3C16-E626-6048-C228792B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integrating over the entire sphere, we approximate that integral as a weighted sum over a finite set of sample points.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D6001-4035-5E2D-354A-8C43754C6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89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There are multiple ways to </a:t>
            </a:r>
            <a:r>
              <a:rPr lang="en-AU" dirty="0" err="1"/>
              <a:t>discretize</a:t>
            </a:r>
            <a:r>
              <a:rPr lang="en-AU" dirty="0"/>
              <a:t> the 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16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92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Platonic Solids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96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D19C-8322-68C8-AF5F-AE689CC7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E970C-18D5-87E8-4952-3C5D3A3EE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CA8B9-36B2-1F49-2A41-FCA9091A9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7EADC-5655-EB72-B3BC-4765928ED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93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F010-741D-8BF0-540D-4F2B3D83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323CB-BE8B-F0BB-FAA8-A6C4E9012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335CD-261E-EFBC-EAF1-5FB99B6D1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B934-E0F0-2210-1ABA-62E806072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5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0C6E-1E27-CBE7-F0A0-8F5FAC72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EF3A3-056E-18E6-F79A-F82002CEA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EEF0F-0812-96B9-9591-1E8EED349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D6596-A7CF-41B2-834B-F505A75A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62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F228-A0E7-328D-E025-B8DB5BE7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74E71-78F9-9CC2-2803-EF6B1CA34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AE94C-3EB9-B233-A111-D4B8A8CC6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861AD-30C8-10F0-E1E1-16ECB6646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48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6006-2A1B-56DB-4A85-A0DC1796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D341C-06D2-5609-B967-368CF9B4E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1EC2E-E5B2-E637-EE63-01F27D149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7E985-A81E-0913-8755-B9AD84A84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69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2D9E-AEAA-417D-0205-F52CB626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58975-25F7-6157-CF07-7797C0D1F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95C00-5CF2-E0B7-A99C-859E3E0A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9232-10CC-1473-2D10-AF8BB0083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3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2D41-2EF2-FABB-388F-865D73705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E923F-9270-43A3-DA8D-E2ACDB181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1324F-4312-DDEA-9DEC-4CBE8DD63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36E0-E417-B77C-CA68-153209519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8A27B4-FAC8-4442-81E6-2E0E212D784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7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D841-B977-C988-AA29-2B1E3394E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0C837-44A1-8406-7628-F845E3EAF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C770-437E-3751-9598-44CD0E3E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20776-54E2-B1A0-7610-A162BD5A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CFCAD-D654-782E-CBE0-A6C9CFF9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44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48DC-6915-D723-C060-B65AF5E8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0CC9-CDE9-04D6-4857-3E50B940D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32F4A-5B50-6CB4-DB45-0BBD21F3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43951-4A75-A959-A860-85E6479D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2F3A9-E7E1-CB0B-E007-68760818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074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6416-5296-6476-5597-73ED2EA8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B9280-FC06-1E1B-0ACA-7AA99E848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E01B-30D3-B389-E173-19601036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9A96-51E0-726E-48D7-E2C4DF001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0401C-A63B-EA79-6B45-65D1BBC0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38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29BE-82B9-DF3B-B385-95B9B3E3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3772-4AA6-AB76-CE4B-D0339E8FF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598EF-1BC0-597E-1A6B-9FA3D4E26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DFF46-2F3C-3F9F-F802-9B852305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3CC7C-71A3-C473-7D79-B2FEC5C6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FB252-6D1A-B28A-D02A-222051A3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9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0ABA-268D-648D-7C2A-866C3692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25CB-5562-3835-0294-1CB073B83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F437B-46D7-3C97-B4CD-CFBFCE190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2672E-A066-8451-EE71-03D26EAEF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42E5E-913A-0BC7-0819-388634E40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10C65-9E21-4B04-C2DD-D33A09DA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A1013-D48D-A36C-C8D5-CCC22FCC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D07C2-3A2E-C7E7-F5FB-785C106C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08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2FEC-CFC3-23C1-D25B-DE75ECC2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0E052-815C-D377-5FE1-DEF76422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DC117-3C77-F694-C175-27415CA7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E623B-ADF1-27FD-9184-DBF07B39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90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AC2AD-2E02-1EEC-A682-2204CAE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4F6D-768F-CC48-4FD2-80F771A9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5BA7-48C0-4857-1E21-41204E20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63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EA17-34A3-A4EF-CF75-03A3E422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5BF5-0845-6AF1-678F-78FD5AD14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2C8ED-AA37-9744-7D0F-CDD8B4777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AA356-753D-324D-9C4A-EAABC5DB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2D457-2BE3-EFD6-1E17-04290DA7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2B662-2C25-D726-271E-271D2237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00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DCE4-AD16-1EE1-4634-A0FD7F4B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96611-380F-04BA-5129-BB3DA298B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EEE9-61DB-994A-69AE-49A4EF428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3FAD7-4CC3-3582-975D-B5E54018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5223-5112-944A-814F-073A8C3E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91056-7850-1439-20BE-9B7B7335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734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7729-056F-E521-4B11-6F3E2157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C9F95-147B-F664-DA97-817619F05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66D8-8B74-29F6-7284-EB0AC114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DB493-B4E9-D683-E876-33BD4AD8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3434E-4B82-6CA3-FDA3-874685AC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48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3ECD6-8839-E1CB-A252-6C27AA3D6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6073E-DFA8-01FC-3DE1-55CCCE223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A879D-90E1-F34A-E124-EB7E9958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199A9-8E58-7974-EAB7-0676F28E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0303-FC36-54B7-DF4C-E44D0C06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38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7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5B601-3ED7-A03C-A62D-B8DCD5A9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C9370-F367-BD60-0970-6CBB4362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4297-357B-4523-2F7F-194C632AB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CDB4-713A-401C-B608-3B3D051D5DF6}" type="datetimeFigureOut">
              <a:rPr lang="en-AU" smtClean="0"/>
              <a:t>16/4/2026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E0D4B-B461-D9AB-7B60-45B6603B7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4325-88EC-D72B-09BE-F1070DEEC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9E829-480A-4F1A-AD1C-EE3E5B3132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9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17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2B52-9362-CE1F-13D9-9A1B2DE5C2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</a:rPr>
              <a:t>SPHERICAL 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91217-655E-DC6A-90B1-8D66C39FCD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Edward John Domingo</a:t>
            </a:r>
            <a:endParaRPr lang="en-AU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980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96AC-241C-E428-321A-1DAB15694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ExtraBold" panose="020B0004020202020204" pitchFamily="34" charset="0"/>
              </a:rPr>
              <a:t>Spherical Sampling</a:t>
            </a:r>
            <a:endParaRPr lang="en-AU" dirty="0">
              <a:solidFill>
                <a:schemeClr val="bg1">
                  <a:lumMod val="85000"/>
                </a:schemeClr>
              </a:solidFill>
              <a:latin typeface="Aptos ExtraBold" panose="020B0004020202020204" pitchFamily="34" charset="0"/>
            </a:endParaRPr>
          </a:p>
        </p:txBody>
      </p:sp>
      <p:pic>
        <p:nvPicPr>
          <p:cNvPr id="1030" name="Picture 6" descr="El Planck cartografía el fondo de microondas |">
            <a:extLst>
              <a:ext uri="{FF2B5EF4-FFF2-40B4-BE49-F238E27FC236}">
                <a16:creationId xmlns:a16="http://schemas.microsoft.com/office/drawing/2014/main" id="{CDB74828-A625-1F99-3102-94DB94495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089" y="4387590"/>
            <a:ext cx="3258342" cy="162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pherical harmonics - Knowino">
            <a:extLst>
              <a:ext uri="{FF2B5EF4-FFF2-40B4-BE49-F238E27FC236}">
                <a16:creationId xmlns:a16="http://schemas.microsoft.com/office/drawing/2014/main" id="{71FC590C-00C3-4917-022F-088BDA984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162" y="1810952"/>
            <a:ext cx="2374293" cy="178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nterior Sound Field Subjective Evaluation Based on the 3D Distribution of Sound Quality Objective Parameters and Sound Source Localization">
            <a:extLst>
              <a:ext uri="{FF2B5EF4-FFF2-40B4-BE49-F238E27FC236}">
                <a16:creationId xmlns:a16="http://schemas.microsoft.com/office/drawing/2014/main" id="{1E02F5BE-2FD7-A125-1156-A5C73BA9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624" y="1810952"/>
            <a:ext cx="2511272" cy="178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limate influences - images">
            <a:extLst>
              <a:ext uri="{FF2B5EF4-FFF2-40B4-BE49-F238E27FC236}">
                <a16:creationId xmlns:a16="http://schemas.microsoft.com/office/drawing/2014/main" id="{8C01E524-BCA5-FDDE-61A7-BD405769A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706" y="3911477"/>
            <a:ext cx="2871207" cy="258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20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8A78E8D-5394-8FE4-C3F8-0D32A89F8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4" y="1124803"/>
            <a:ext cx="4756433" cy="5037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9193AB-8233-85C9-F24E-BB41BCC9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1624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>
                    <a:lumMod val="85000"/>
                  </a:schemeClr>
                </a:solidFill>
                <a:latin typeface="Aptos ExtraBold" panose="020F0502020204030204" pitchFamily="34" charset="0"/>
              </a:rPr>
              <a:t>Spherical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8D3F8-D34D-5D66-811B-E0D3DBECD449}"/>
              </a:ext>
            </a:extLst>
          </p:cNvPr>
          <p:cNvSpPr txBox="1"/>
          <p:nvPr/>
        </p:nvSpPr>
        <p:spPr>
          <a:xfrm>
            <a:off x="12471400" y="1974850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>
                <a:solidFill>
                  <a:schemeClr val="bg1"/>
                </a:solidFill>
              </a:rPr>
              <a:t>asds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FE00BF-047B-AC43-C0F3-9F3CE4DCF1E0}"/>
                  </a:ext>
                </a:extLst>
              </p:cNvPr>
              <p:cNvSpPr txBox="1"/>
              <p:nvPr/>
            </p:nvSpPr>
            <p:spPr>
              <a:xfrm>
                <a:off x="7022819" y="5509934"/>
                <a:ext cx="4429995" cy="483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ℂ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FE00BF-047B-AC43-C0F3-9F3CE4DCF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819" y="5509934"/>
                <a:ext cx="4429995" cy="483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F82D6C-76CB-9C08-A47B-829EC86FDA87}"/>
                  </a:ext>
                </a:extLst>
              </p:cNvPr>
              <p:cNvSpPr txBox="1"/>
              <p:nvPr/>
            </p:nvSpPr>
            <p:spPr>
              <a:xfrm>
                <a:off x="739186" y="5597987"/>
                <a:ext cx="17316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32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F82D6C-76CB-9C08-A47B-829EC86FD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6" y="5597987"/>
                <a:ext cx="1731628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67D5D5-DAEB-D2E5-0214-AC13C6604DFA}"/>
                  </a:ext>
                </a:extLst>
              </p:cNvPr>
              <p:cNvSpPr txBox="1"/>
              <p:nvPr/>
            </p:nvSpPr>
            <p:spPr>
              <a:xfrm>
                <a:off x="3342543" y="5580377"/>
                <a:ext cx="19373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2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0,2</m:t>
                          </m:r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67D5D5-DAEB-D2E5-0214-AC13C6604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543" y="5580377"/>
                <a:ext cx="1937325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7F49574-AD97-9D4A-6564-6BB95EC69C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r="1640" b="3243"/>
          <a:stretch>
            <a:fillRect/>
          </a:stretch>
        </p:blipFill>
        <p:spPr>
          <a:xfrm>
            <a:off x="6096000" y="1668026"/>
            <a:ext cx="5548998" cy="3276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03F26D-D679-4519-44B3-C1F78FA5BEFC}"/>
              </a:ext>
            </a:extLst>
          </p:cNvPr>
          <p:cNvSpPr txBox="1"/>
          <p:nvPr/>
        </p:nvSpPr>
        <p:spPr>
          <a:xfrm>
            <a:off x="727813" y="5340657"/>
            <a:ext cx="2178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85000"/>
                  </a:schemeClr>
                </a:solidFill>
              </a:rPr>
              <a:t>Elevation/Colatitude:</a:t>
            </a:r>
            <a:endParaRPr lang="en-AU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67850-072F-9571-E951-BBD0F81835AD}"/>
              </a:ext>
            </a:extLst>
          </p:cNvPr>
          <p:cNvSpPr txBox="1"/>
          <p:nvPr/>
        </p:nvSpPr>
        <p:spPr>
          <a:xfrm>
            <a:off x="3342543" y="5321237"/>
            <a:ext cx="101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85000"/>
                  </a:schemeClr>
                </a:solidFill>
              </a:rPr>
              <a:t>Azimuth:</a:t>
            </a:r>
            <a:endParaRPr lang="en-AU" sz="16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43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D30A7-8FC8-8FC4-7118-8A5347E8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DFAF39-7AA4-43B4-C18A-222D4F37DB5B}"/>
              </a:ext>
            </a:extLst>
          </p:cNvPr>
          <p:cNvSpPr/>
          <p:nvPr/>
        </p:nvSpPr>
        <p:spPr>
          <a:xfrm>
            <a:off x="5382322" y="1494263"/>
            <a:ext cx="6103434" cy="37988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CF8F5-21D6-E30A-5C18-CA0FC7FD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 1D to 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B14255-0060-67AB-E95F-E4531B190EDB}"/>
                  </a:ext>
                </a:extLst>
              </p:cNvPr>
              <p:cNvSpPr txBox="1"/>
              <p:nvPr/>
            </p:nvSpPr>
            <p:spPr>
              <a:xfrm>
                <a:off x="1224109" y="2358122"/>
                <a:ext cx="3229538" cy="1174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B14255-0060-67AB-E95F-E4531B190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109" y="2358122"/>
                <a:ext cx="3229538" cy="1174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E593D9-C52B-AF4F-FC90-A5A50F0A53C2}"/>
              </a:ext>
            </a:extLst>
          </p:cNvPr>
          <p:cNvSpPr txBox="1"/>
          <p:nvPr/>
        </p:nvSpPr>
        <p:spPr>
          <a:xfrm>
            <a:off x="1273257" y="4368601"/>
            <a:ext cx="3131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Fourier Series Decomposition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of a 1D Signal</a:t>
            </a:r>
          </a:p>
        </p:txBody>
      </p:sp>
      <p:pic>
        <p:nvPicPr>
          <p:cNvPr id="1026" name="Picture 2" descr="Fourier series &amp; synthesis – TikZ.net">
            <a:extLst>
              <a:ext uri="{FF2B5EF4-FFF2-40B4-BE49-F238E27FC236}">
                <a16:creationId xmlns:a16="http://schemas.microsoft.com/office/drawing/2014/main" id="{7C5C9C52-6B0A-C366-00A9-B91442C3E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065" y="2087979"/>
            <a:ext cx="5362356" cy="292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ABBC90-4604-D839-1E4F-E9AB7AADC5A1}"/>
              </a:ext>
            </a:extLst>
          </p:cNvPr>
          <p:cNvSpPr txBox="1"/>
          <p:nvPr/>
        </p:nvSpPr>
        <p:spPr>
          <a:xfrm>
            <a:off x="5805486" y="5363737"/>
            <a:ext cx="55483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Decomposing a periodic signal (</a:t>
            </a:r>
            <a:r>
              <a:rPr lang="en-AU" sz="1050" dirty="0">
                <a:solidFill>
                  <a:schemeClr val="bg1">
                    <a:lumMod val="95000"/>
                  </a:schemeClr>
                </a:solidFill>
              </a:rPr>
              <a:t>Source: </a:t>
            </a:r>
            <a:r>
              <a:rPr lang="en-AU" sz="1050" dirty="0" err="1">
                <a:solidFill>
                  <a:schemeClr val="bg1">
                    <a:lumMod val="95000"/>
                  </a:schemeClr>
                </a:solidFill>
              </a:rPr>
              <a:t>Neutelings</a:t>
            </a:r>
            <a:r>
              <a:rPr lang="en-AU" sz="1050" dirty="0">
                <a:solidFill>
                  <a:schemeClr val="bg1">
                    <a:lumMod val="95000"/>
                  </a:schemeClr>
                </a:solidFill>
              </a:rPr>
              <a:t>, I., “Fourier series &amp; synthesis,” TikZ.net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0597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1D389-0CD8-7C4D-E23B-F11737F2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544C-EE00-68C9-7CA3-2648EC27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 1D to 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0DA99-C34D-B99E-FC9E-E9420C2251DE}"/>
                  </a:ext>
                </a:extLst>
              </p:cNvPr>
              <p:cNvSpPr txBox="1"/>
              <p:nvPr/>
            </p:nvSpPr>
            <p:spPr>
              <a:xfrm>
                <a:off x="6164078" y="2358122"/>
                <a:ext cx="5074723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0DA99-C34D-B99E-FC9E-E9420C225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078" y="2358122"/>
                <a:ext cx="5074723" cy="1176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4E4643-62B1-023C-07B0-62482483D122}"/>
                  </a:ext>
                </a:extLst>
              </p:cNvPr>
              <p:cNvSpPr txBox="1"/>
              <p:nvPr/>
            </p:nvSpPr>
            <p:spPr>
              <a:xfrm>
                <a:off x="1224109" y="2358122"/>
                <a:ext cx="3229538" cy="1174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4E4643-62B1-023C-07B0-62482483D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109" y="2358122"/>
                <a:ext cx="3229538" cy="1174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09A0F1-3E57-0E81-428F-895FC639B578}"/>
              </a:ext>
            </a:extLst>
          </p:cNvPr>
          <p:cNvSpPr txBox="1"/>
          <p:nvPr/>
        </p:nvSpPr>
        <p:spPr>
          <a:xfrm>
            <a:off x="1273257" y="4368601"/>
            <a:ext cx="3131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Fourier Series Decomposition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of a 1D Signal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B6FF3-5391-E3EB-E922-382D3E8CF25C}"/>
              </a:ext>
            </a:extLst>
          </p:cNvPr>
          <p:cNvSpPr txBox="1"/>
          <p:nvPr/>
        </p:nvSpPr>
        <p:spPr>
          <a:xfrm>
            <a:off x="6829645" y="4366240"/>
            <a:ext cx="3743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Spherical Harmonic Decomposition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of a Function on the Sphere</a:t>
            </a:r>
          </a:p>
        </p:txBody>
      </p:sp>
    </p:spTree>
    <p:extLst>
      <p:ext uri="{BB962C8B-B14F-4D97-AF65-F5344CB8AC3E}">
        <p14:creationId xmlns:p14="http://schemas.microsoft.com/office/powerpoint/2010/main" val="237931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D9C8C-8328-7D21-C87F-0514DA81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A17C-7A9B-B27F-322F-A13B8757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Spherical Harmonics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7BBEAD-EA29-4D4E-3587-1895419A6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2" y="7714341"/>
            <a:ext cx="5315692" cy="83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68E1A-7BC5-5547-47CF-06CD06F6D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33" y="7392070"/>
            <a:ext cx="7840169" cy="3172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1BA152-CD6C-36CC-CA43-6558B94A3C22}"/>
                  </a:ext>
                </a:extLst>
              </p:cNvPr>
              <p:cNvSpPr txBox="1"/>
              <p:nvPr/>
            </p:nvSpPr>
            <p:spPr>
              <a:xfrm>
                <a:off x="2072270" y="2863579"/>
                <a:ext cx="8047459" cy="1455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f>
                            <m:fPr>
                              <m:ctrlP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sSup>
                        <m:sSupPr>
                          <m:ctrlPr>
                            <a:rPr lang="en-US" sz="32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𝑖𝑚</m:t>
                          </m:r>
                          <m:r>
                            <a:rPr lang="en-US" sz="32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</m:oMath>
                  </m:oMathPara>
                </a14:m>
                <a:endParaRPr lang="en-US" sz="32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1BA152-CD6C-36CC-CA43-6558B94A3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270" y="2863579"/>
                <a:ext cx="8047459" cy="14550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40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014C-6661-16A3-D51A-D40FDD53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Complex Exponential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7F40C6-46B4-1D05-680F-9EC947A66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2" y="7714341"/>
            <a:ext cx="5315692" cy="83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441A82-A338-CCCE-1CA3-A1762C49D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33" y="7392070"/>
            <a:ext cx="7840169" cy="3172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05A04-96E6-CF96-B4BF-19D314325724}"/>
                  </a:ext>
                </a:extLst>
              </p:cNvPr>
              <p:cNvSpPr txBox="1"/>
              <p:nvPr/>
            </p:nvSpPr>
            <p:spPr>
              <a:xfrm>
                <a:off x="3751311" y="3473219"/>
                <a:ext cx="4569713" cy="447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𝑖𝑚</m:t>
                          </m:r>
                          <m:r>
                            <a:rPr lang="it-IT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it-IT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800" i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it-IT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it-IT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2800" i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it-IT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AU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05A04-96E6-CF96-B4BF-19D314325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311" y="3473219"/>
                <a:ext cx="4569713" cy="447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B35BF-0413-5DC0-6041-B2E798F5C2C7}"/>
                  </a:ext>
                </a:extLst>
              </p:cNvPr>
              <p:cNvSpPr txBox="1"/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ad>
                                <m:radPr>
                                  <m:degHide m:val="on"/>
                                  <m:ctrlP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Normalization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AU" sz="2800" i="0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Legendre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Fourier</m:t>
                          </m:r>
                        </m:lim>
                      </m:limLow>
                    </m:oMath>
                  </m:oMathPara>
                </a14:m>
                <a:endParaRPr lang="en-AU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B35BF-0413-5DC0-6041-B2E798F5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782047-3584-FEDB-7CD1-30262C1DD8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6195" y="4146210"/>
            <a:ext cx="3010231" cy="2396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477FE1-662F-31CE-695D-4A6DB8799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1604" y="4146210"/>
            <a:ext cx="5196613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4D2DB-4A03-C932-753C-5CBAECDE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4580-A5A8-52E3-A0B6-09225B01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Associated Legendre Polynomials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48233A-FD2C-10FA-E977-6A69A9011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2" y="7714341"/>
            <a:ext cx="5315692" cy="83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228465-C6F9-E466-9044-F070396A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33" y="7392070"/>
            <a:ext cx="7840169" cy="3172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565AFA-3B3F-87B0-9E50-5B6704D5E9D3}"/>
                  </a:ext>
                </a:extLst>
              </p:cNvPr>
              <p:cNvSpPr txBox="1"/>
              <p:nvPr/>
            </p:nvSpPr>
            <p:spPr>
              <a:xfrm>
                <a:off x="467635" y="4494848"/>
                <a:ext cx="6927101" cy="1260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lit/>
                            </m:r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en-US" sz="2800" i="1" dirty="0">
                  <a:solidFill>
                    <a:schemeClr val="bg1">
                      <a:lumMod val="8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565AFA-3B3F-87B0-9E50-5B6704D5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5" y="4494848"/>
                <a:ext cx="6927101" cy="1260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EB059-1575-7F4C-5743-B32346AFF24F}"/>
                  </a:ext>
                </a:extLst>
              </p:cNvPr>
              <p:cNvSpPr txBox="1"/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ad>
                                <m:radPr>
                                  <m:degHide m:val="on"/>
                                  <m:ctrlP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Normalization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AU" sz="2800" i="0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Legendre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  <m:r>
                                    <a:rPr lang="en-AU" sz="280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Fourier</m:t>
                          </m:r>
                        </m:lim>
                      </m:limLow>
                    </m:oMath>
                  </m:oMathPara>
                </a14:m>
                <a:endParaRPr lang="en-AU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EB059-1575-7F4C-5743-B32346AFF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75BD6C9-D6D0-A8AE-C1E9-C6DEAA9EEE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632" y="3542672"/>
            <a:ext cx="4269982" cy="31647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48F7B7-022F-D192-02FF-BB2AE8A28650}"/>
                  </a:ext>
                </a:extLst>
              </p:cNvPr>
              <p:cNvSpPr txBox="1"/>
              <p:nvPr/>
            </p:nvSpPr>
            <p:spPr>
              <a:xfrm>
                <a:off x="7016750" y="4826000"/>
                <a:ext cx="2000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48F7B7-022F-D192-02FF-BB2AE8A28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750" y="4826000"/>
                <a:ext cx="2000548" cy="276999"/>
              </a:xfrm>
              <a:prstGeom prst="rect">
                <a:avLst/>
              </a:prstGeom>
              <a:blipFill>
                <a:blip r:embed="rId8"/>
                <a:stretch>
                  <a:fillRect l="-3797" t="-9091" r="-3165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C1A61F-4A1B-DCCE-BA99-5BF572AED306}"/>
                  </a:ext>
                </a:extLst>
              </p:cNvPr>
              <p:cNvSpPr txBox="1"/>
              <p:nvPr/>
            </p:nvSpPr>
            <p:spPr>
              <a:xfrm>
                <a:off x="494656" y="3429000"/>
                <a:ext cx="8251426" cy="829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lit/>
                            </m:r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C1A61F-4A1B-DCCE-BA99-5BF572AE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56" y="3429000"/>
                <a:ext cx="8251426" cy="829522"/>
              </a:xfrm>
              <a:prstGeom prst="rect">
                <a:avLst/>
              </a:prstGeom>
              <a:blipFill>
                <a:blip r:embed="rId9"/>
                <a:stretch>
                  <a:fillRect l="-4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58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CC763-E56F-773C-ACD7-B0E2F219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3930-D003-1435-7077-25011000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8317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Spherical Harmonics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7485BA-4A2F-BC55-80D3-AD7F8F5BD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32" y="7714341"/>
            <a:ext cx="5315692" cy="83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502CF-2CC4-DAAA-5AEA-07DE7502A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33" y="7392070"/>
            <a:ext cx="7840169" cy="3172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B1A9D4-EBB8-4BA6-B8D0-D2295D41EE5A}"/>
                  </a:ext>
                </a:extLst>
              </p:cNvPr>
              <p:cNvSpPr txBox="1"/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ad>
                                <m:radPr>
                                  <m:degHide m:val="on"/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AU" sz="2800" i="1" smtClean="0">
                                              <a:solidFill>
                                                <a:schemeClr val="bg1">
                                                  <a:lumMod val="9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Normalization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AU" sz="2800" i="0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AU" sz="2800" i="1" smtClean="0">
                                          <a:solidFill>
                                            <a:schemeClr val="bg1">
                                              <a:lumMod val="9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Legendre</m:t>
                          </m:r>
                        </m:lim>
                      </m:limLow>
                      <m:limLow>
                        <m:limLow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AU" sz="280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  <m:r>
                                    <a:rPr lang="en-AU" sz="280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AU" sz="2800" i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Fourier</m:t>
                          </m:r>
                        </m:lim>
                      </m:limLow>
                    </m:oMath>
                  </m:oMathPara>
                </a14:m>
                <a:endParaRPr lang="en-AU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B1A9D4-EBB8-4BA6-B8D0-D2295D41E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142" y="1509993"/>
                <a:ext cx="7483715" cy="17061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ED39E3-8A1D-BDE0-BF24-7C2719D11BFE}"/>
                  </a:ext>
                </a:extLst>
              </p:cNvPr>
              <p:cNvSpPr txBox="1"/>
              <p:nvPr/>
            </p:nvSpPr>
            <p:spPr>
              <a:xfrm>
                <a:off x="273178" y="4623769"/>
                <a:ext cx="5223546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AU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bar>
                        <m:barPr>
                          <m:pos m:val="top"/>
                          <m:ctrlP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sSup>
                                <m:sSupPr>
                                  <m:ctrlP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AU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</m:sSubSup>
                          <m:d>
                            <m:dPr>
                              <m:ctrlP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ba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func>
                        <m:funcPr>
                          <m:ctrlP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i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AU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A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ED39E3-8A1D-BDE0-BF24-7C2719D11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78" y="4623769"/>
                <a:ext cx="5223546" cy="622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D34F12-5DFD-48DB-E203-1BE86A0B93AF}"/>
                  </a:ext>
                </a:extLst>
              </p:cNvPr>
              <p:cNvSpPr txBox="1"/>
              <p:nvPr/>
            </p:nvSpPr>
            <p:spPr>
              <a:xfrm>
                <a:off x="6420968" y="4598954"/>
                <a:ext cx="5326458" cy="672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AU" sz="16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AU" sz="16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bar>
                        <m:barPr>
                          <m:pos m:val="top"/>
                          <m:ctrlP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bar>
                      <m:r>
                        <a:rPr lang="en-AU" sz="16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16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1600" i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1600" i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AU" sz="16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func>
                        </m:e>
                      </m:d>
                      <m:r>
                        <a:rPr lang="en-AU" sz="16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AU" sz="16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AU" sz="16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AU" sz="16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AU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D34F12-5DFD-48DB-E203-1BE86A0B9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968" y="4598954"/>
                <a:ext cx="5326458" cy="672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939A095-DF63-9BE9-C363-EFB44A3BAB0E}"/>
              </a:ext>
            </a:extLst>
          </p:cNvPr>
          <p:cNvSpPr txBox="1"/>
          <p:nvPr/>
        </p:nvSpPr>
        <p:spPr>
          <a:xfrm>
            <a:off x="273178" y="4229622"/>
            <a:ext cx="143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Orthogonal:</a:t>
            </a:r>
            <a:endParaRPr lang="en-AU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787F8-A0A6-EFE7-DC94-53BB1EA6781D}"/>
              </a:ext>
            </a:extLst>
          </p:cNvPr>
          <p:cNvSpPr txBox="1"/>
          <p:nvPr/>
        </p:nvSpPr>
        <p:spPr>
          <a:xfrm>
            <a:off x="6420968" y="4229622"/>
            <a:ext cx="129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Complete:</a:t>
            </a:r>
            <a:endParaRPr lang="en-AU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40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DC8FD2-1E38-7B31-06E6-CCD11EB969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6" t="18228" r="3632"/>
          <a:stretch>
            <a:fillRect/>
          </a:stretch>
        </p:blipFill>
        <p:spPr>
          <a:xfrm>
            <a:off x="670075" y="2451306"/>
            <a:ext cx="4392802" cy="3538216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7F27CBD8-10E1-ED9B-7376-C26EA029A379}"/>
              </a:ext>
            </a:extLst>
          </p:cNvPr>
          <p:cNvGrpSpPr/>
          <p:nvPr/>
        </p:nvGrpSpPr>
        <p:grpSpPr>
          <a:xfrm>
            <a:off x="5230740" y="3054740"/>
            <a:ext cx="6427860" cy="2830923"/>
            <a:chOff x="365760" y="1463040"/>
            <a:chExt cx="11765280" cy="5181600"/>
          </a:xfrm>
        </p:grpSpPr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3EC66DD6-3447-5B17-94FC-F93C62E97BA5}"/>
                </a:ext>
              </a:extLst>
            </p:cNvPr>
            <p:cNvSpPr/>
            <p:nvPr/>
          </p:nvSpPr>
          <p:spPr>
            <a:xfrm>
              <a:off x="365760" y="2804160"/>
              <a:ext cx="146304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degree </a:t>
              </a:r>
              <a:r>
                <a:rPr lang="en-US" sz="1600" b="1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</a:t>
              </a:r>
              <a:endParaRPr lang="en-US" sz="1467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4A365DC6-63FE-84D3-7900-DF9F394AB6DA}"/>
                </a:ext>
              </a:extLst>
            </p:cNvPr>
            <p:cNvSpPr/>
            <p:nvPr/>
          </p:nvSpPr>
          <p:spPr>
            <a:xfrm>
              <a:off x="1889760" y="1463040"/>
              <a:ext cx="0" cy="426720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1EE79709-7251-E554-C2FE-4823755D6B98}"/>
                </a:ext>
              </a:extLst>
            </p:cNvPr>
            <p:cNvSpPr/>
            <p:nvPr/>
          </p:nvSpPr>
          <p:spPr>
            <a:xfrm>
              <a:off x="1645920" y="5547360"/>
              <a:ext cx="487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0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 sz="1067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ED58ADE-AE3A-C952-79A9-6B5AD21EEDD9}"/>
                </a:ext>
              </a:extLst>
            </p:cNvPr>
            <p:cNvSpPr/>
            <p:nvPr/>
          </p:nvSpPr>
          <p:spPr>
            <a:xfrm>
              <a:off x="6370318" y="6217920"/>
              <a:ext cx="1828800" cy="426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</a:t>
              </a:r>
              <a:r>
                <a:rPr lang="en-US" sz="1600" b="1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</a:t>
              </a:r>
              <a:endParaRPr lang="en-US" sz="1467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61E29E12-B454-EDE9-E3C4-5D3C399040E7}"/>
                </a:ext>
              </a:extLst>
            </p:cNvPr>
            <p:cNvSpPr/>
            <p:nvPr/>
          </p:nvSpPr>
          <p:spPr>
            <a:xfrm>
              <a:off x="2438400" y="5949696"/>
              <a:ext cx="9144000" cy="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65D59B45-6822-769C-0B0D-CB0AC9998009}"/>
                </a:ext>
              </a:extLst>
            </p:cNvPr>
            <p:cNvSpPr/>
            <p:nvPr/>
          </p:nvSpPr>
          <p:spPr>
            <a:xfrm>
              <a:off x="1950720" y="1463040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733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D448A88A-3CAD-B281-547B-3C12F0ED8DB7}"/>
                </a:ext>
              </a:extLst>
            </p:cNvPr>
            <p:cNvSpPr/>
            <p:nvPr/>
          </p:nvSpPr>
          <p:spPr>
            <a:xfrm>
              <a:off x="1950720" y="2535936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733" dirty="0"/>
            </a:p>
          </p:txBody>
        </p:sp>
        <p:sp>
          <p:nvSpPr>
            <p:cNvPr id="12" name="Shape 11">
              <a:extLst>
                <a:ext uri="{FF2B5EF4-FFF2-40B4-BE49-F238E27FC236}">
                  <a16:creationId xmlns:a16="http://schemas.microsoft.com/office/drawing/2014/main" id="{A9BCDDE9-9F6B-7871-CD3F-84C635720F00}"/>
                </a:ext>
              </a:extLst>
            </p:cNvPr>
            <p:cNvSpPr/>
            <p:nvPr/>
          </p:nvSpPr>
          <p:spPr>
            <a:xfrm>
              <a:off x="524256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589E8B6F-5085-215C-EF90-EFEF4C4F926B}"/>
                </a:ext>
              </a:extLst>
            </p:cNvPr>
            <p:cNvSpPr/>
            <p:nvPr/>
          </p:nvSpPr>
          <p:spPr>
            <a:xfrm>
              <a:off x="524256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</a:t>
              </a:r>
              <a:endParaRPr lang="en-US" sz="2667" dirty="0"/>
            </a:p>
          </p:txBody>
        </p:sp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67FC37A1-2949-F1F5-3C47-1AD8C831D8FC}"/>
                </a:ext>
              </a:extLst>
            </p:cNvPr>
            <p:cNvSpPr/>
            <p:nvPr/>
          </p:nvSpPr>
          <p:spPr>
            <a:xfrm>
              <a:off x="804672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5" name="Text 16">
              <a:extLst>
                <a:ext uri="{FF2B5EF4-FFF2-40B4-BE49-F238E27FC236}">
                  <a16:creationId xmlns:a16="http://schemas.microsoft.com/office/drawing/2014/main" id="{2FE468C1-B332-0AC6-D62B-40DEB1E832DA}"/>
                </a:ext>
              </a:extLst>
            </p:cNvPr>
            <p:cNvSpPr/>
            <p:nvPr/>
          </p:nvSpPr>
          <p:spPr>
            <a:xfrm>
              <a:off x="804672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667" dirty="0"/>
            </a:p>
          </p:txBody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A5B944F8-7E29-E188-EB3D-64648474D2EA}"/>
                </a:ext>
              </a:extLst>
            </p:cNvPr>
            <p:cNvSpPr/>
            <p:nvPr/>
          </p:nvSpPr>
          <p:spPr>
            <a:xfrm>
              <a:off x="1950720" y="3608832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733" dirty="0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D531EA12-3722-25BB-ACD5-BFAD332068A8}"/>
                </a:ext>
              </a:extLst>
            </p:cNvPr>
            <p:cNvSpPr/>
            <p:nvPr/>
          </p:nvSpPr>
          <p:spPr>
            <a:xfrm>
              <a:off x="384048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C9AFA710-E30C-F0B4-EDE4-828F00187EAA}"/>
                </a:ext>
              </a:extLst>
            </p:cNvPr>
            <p:cNvSpPr/>
            <p:nvPr/>
          </p:nvSpPr>
          <p:spPr>
            <a:xfrm>
              <a:off x="384048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−2</a:t>
              </a:r>
              <a:endParaRPr lang="en-US" sz="2667" dirty="0"/>
            </a:p>
          </p:txBody>
        </p:sp>
        <p:sp>
          <p:nvSpPr>
            <p:cNvPr id="19" name="Shape 20">
              <a:extLst>
                <a:ext uri="{FF2B5EF4-FFF2-40B4-BE49-F238E27FC236}">
                  <a16:creationId xmlns:a16="http://schemas.microsoft.com/office/drawing/2014/main" id="{60CF6D4A-0227-6AAB-438A-36DF0E9351A9}"/>
                </a:ext>
              </a:extLst>
            </p:cNvPr>
            <p:cNvSpPr/>
            <p:nvPr/>
          </p:nvSpPr>
          <p:spPr>
            <a:xfrm>
              <a:off x="524256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366C5647-5808-8D60-9AD3-0F25FB17C72D}"/>
                </a:ext>
              </a:extLst>
            </p:cNvPr>
            <p:cNvSpPr/>
            <p:nvPr/>
          </p:nvSpPr>
          <p:spPr>
            <a:xfrm>
              <a:off x="524256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</a:t>
              </a:r>
              <a:endParaRPr lang="en-US" sz="2667" dirty="0"/>
            </a:p>
          </p:txBody>
        </p:sp>
        <p:sp>
          <p:nvSpPr>
            <p:cNvPr id="21" name="Shape 24">
              <a:extLst>
                <a:ext uri="{FF2B5EF4-FFF2-40B4-BE49-F238E27FC236}">
                  <a16:creationId xmlns:a16="http://schemas.microsoft.com/office/drawing/2014/main" id="{8A6EB061-4305-8AFF-C2C7-12E6835DD03D}"/>
                </a:ext>
              </a:extLst>
            </p:cNvPr>
            <p:cNvSpPr/>
            <p:nvPr/>
          </p:nvSpPr>
          <p:spPr>
            <a:xfrm>
              <a:off x="804672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2" name="Text 25">
              <a:extLst>
                <a:ext uri="{FF2B5EF4-FFF2-40B4-BE49-F238E27FC236}">
                  <a16:creationId xmlns:a16="http://schemas.microsoft.com/office/drawing/2014/main" id="{F8C8F673-8392-9AFC-EB91-AA6FCD348904}"/>
                </a:ext>
              </a:extLst>
            </p:cNvPr>
            <p:cNvSpPr/>
            <p:nvPr/>
          </p:nvSpPr>
          <p:spPr>
            <a:xfrm>
              <a:off x="804672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667" dirty="0"/>
            </a:p>
          </p:txBody>
        </p:sp>
        <p:sp>
          <p:nvSpPr>
            <p:cNvPr id="23" name="Shape 26">
              <a:extLst>
                <a:ext uri="{FF2B5EF4-FFF2-40B4-BE49-F238E27FC236}">
                  <a16:creationId xmlns:a16="http://schemas.microsoft.com/office/drawing/2014/main" id="{1E13FB95-7D99-0DF9-A390-72A87DB1EC09}"/>
                </a:ext>
              </a:extLst>
            </p:cNvPr>
            <p:cNvSpPr/>
            <p:nvPr/>
          </p:nvSpPr>
          <p:spPr>
            <a:xfrm>
              <a:off x="944880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4" name="Text 27">
              <a:extLst>
                <a:ext uri="{FF2B5EF4-FFF2-40B4-BE49-F238E27FC236}">
                  <a16:creationId xmlns:a16="http://schemas.microsoft.com/office/drawing/2014/main" id="{F256584B-2ED2-C6D5-8E52-B2E20E364E96}"/>
                </a:ext>
              </a:extLst>
            </p:cNvPr>
            <p:cNvSpPr/>
            <p:nvPr/>
          </p:nvSpPr>
          <p:spPr>
            <a:xfrm>
              <a:off x="944880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667" dirty="0"/>
            </a:p>
          </p:txBody>
        </p:sp>
        <p:sp>
          <p:nvSpPr>
            <p:cNvPr id="25" name="Text 28">
              <a:extLst>
                <a:ext uri="{FF2B5EF4-FFF2-40B4-BE49-F238E27FC236}">
                  <a16:creationId xmlns:a16="http://schemas.microsoft.com/office/drawing/2014/main" id="{0AA6B5B4-7352-F267-5405-4CB6D5967CD3}"/>
                </a:ext>
              </a:extLst>
            </p:cNvPr>
            <p:cNvSpPr/>
            <p:nvPr/>
          </p:nvSpPr>
          <p:spPr>
            <a:xfrm>
              <a:off x="1950720" y="4681728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733" dirty="0"/>
            </a:p>
          </p:txBody>
        </p:sp>
        <p:sp>
          <p:nvSpPr>
            <p:cNvPr id="26" name="Shape 29">
              <a:extLst>
                <a:ext uri="{FF2B5EF4-FFF2-40B4-BE49-F238E27FC236}">
                  <a16:creationId xmlns:a16="http://schemas.microsoft.com/office/drawing/2014/main" id="{6B7C5D04-6C75-0655-A531-776542ABC5C0}"/>
                </a:ext>
              </a:extLst>
            </p:cNvPr>
            <p:cNvSpPr/>
            <p:nvPr/>
          </p:nvSpPr>
          <p:spPr>
            <a:xfrm>
              <a:off x="243840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7" name="Text 30">
              <a:extLst>
                <a:ext uri="{FF2B5EF4-FFF2-40B4-BE49-F238E27FC236}">
                  <a16:creationId xmlns:a16="http://schemas.microsoft.com/office/drawing/2014/main" id="{A6C0ADEB-306E-5F96-0D94-EF85C13A564A}"/>
                </a:ext>
              </a:extLst>
            </p:cNvPr>
            <p:cNvSpPr/>
            <p:nvPr/>
          </p:nvSpPr>
          <p:spPr>
            <a:xfrm>
              <a:off x="243840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−3</a:t>
              </a:r>
              <a:endParaRPr lang="en-US" sz="2667" dirty="0"/>
            </a:p>
          </p:txBody>
        </p:sp>
        <p:sp>
          <p:nvSpPr>
            <p:cNvPr id="28" name="Shape 31">
              <a:extLst>
                <a:ext uri="{FF2B5EF4-FFF2-40B4-BE49-F238E27FC236}">
                  <a16:creationId xmlns:a16="http://schemas.microsoft.com/office/drawing/2014/main" id="{3F5D0938-20B7-8376-2878-7CCFDEFC759F}"/>
                </a:ext>
              </a:extLst>
            </p:cNvPr>
            <p:cNvSpPr/>
            <p:nvPr/>
          </p:nvSpPr>
          <p:spPr>
            <a:xfrm>
              <a:off x="384048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8AB26482-C93F-1CF8-5D89-78D748E91817}"/>
                </a:ext>
              </a:extLst>
            </p:cNvPr>
            <p:cNvSpPr/>
            <p:nvPr/>
          </p:nvSpPr>
          <p:spPr>
            <a:xfrm>
              <a:off x="384048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−2</a:t>
              </a:r>
              <a:endParaRPr lang="en-US" sz="2667" dirty="0"/>
            </a:p>
          </p:txBody>
        </p:sp>
        <p:sp>
          <p:nvSpPr>
            <p:cNvPr id="30" name="Shape 33">
              <a:extLst>
                <a:ext uri="{FF2B5EF4-FFF2-40B4-BE49-F238E27FC236}">
                  <a16:creationId xmlns:a16="http://schemas.microsoft.com/office/drawing/2014/main" id="{A4394F00-624E-C87F-7258-6F8770E4AB13}"/>
                </a:ext>
              </a:extLst>
            </p:cNvPr>
            <p:cNvSpPr/>
            <p:nvPr/>
          </p:nvSpPr>
          <p:spPr>
            <a:xfrm>
              <a:off x="524256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F1FE2AFA-836B-361B-D604-0129F25EAC67}"/>
                </a:ext>
              </a:extLst>
            </p:cNvPr>
            <p:cNvSpPr/>
            <p:nvPr/>
          </p:nvSpPr>
          <p:spPr>
            <a:xfrm>
              <a:off x="524256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</a:t>
              </a:r>
              <a:endParaRPr lang="en-US" sz="2667" dirty="0"/>
            </a:p>
          </p:txBody>
        </p:sp>
        <p:sp>
          <p:nvSpPr>
            <p:cNvPr id="32" name="Shape 37">
              <a:extLst>
                <a:ext uri="{FF2B5EF4-FFF2-40B4-BE49-F238E27FC236}">
                  <a16:creationId xmlns:a16="http://schemas.microsoft.com/office/drawing/2014/main" id="{BEE82E7D-0102-49F0-E4E6-F4A1A024CB94}"/>
                </a:ext>
              </a:extLst>
            </p:cNvPr>
            <p:cNvSpPr/>
            <p:nvPr/>
          </p:nvSpPr>
          <p:spPr>
            <a:xfrm>
              <a:off x="804672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3" name="Text 38">
              <a:extLst>
                <a:ext uri="{FF2B5EF4-FFF2-40B4-BE49-F238E27FC236}">
                  <a16:creationId xmlns:a16="http://schemas.microsoft.com/office/drawing/2014/main" id="{993218E1-70C2-0BDB-81DF-2193A6EE1AF1}"/>
                </a:ext>
              </a:extLst>
            </p:cNvPr>
            <p:cNvSpPr/>
            <p:nvPr/>
          </p:nvSpPr>
          <p:spPr>
            <a:xfrm>
              <a:off x="804672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667" dirty="0"/>
            </a:p>
          </p:txBody>
        </p:sp>
        <p:sp>
          <p:nvSpPr>
            <p:cNvPr id="34" name="Shape 39">
              <a:extLst>
                <a:ext uri="{FF2B5EF4-FFF2-40B4-BE49-F238E27FC236}">
                  <a16:creationId xmlns:a16="http://schemas.microsoft.com/office/drawing/2014/main" id="{F37480B3-D5C9-D913-545C-16325891E8B9}"/>
                </a:ext>
              </a:extLst>
            </p:cNvPr>
            <p:cNvSpPr/>
            <p:nvPr/>
          </p:nvSpPr>
          <p:spPr>
            <a:xfrm>
              <a:off x="944880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5" name="Text 40">
              <a:extLst>
                <a:ext uri="{FF2B5EF4-FFF2-40B4-BE49-F238E27FC236}">
                  <a16:creationId xmlns:a16="http://schemas.microsoft.com/office/drawing/2014/main" id="{D84EB408-E143-7AD1-E465-8F1285B6457A}"/>
                </a:ext>
              </a:extLst>
            </p:cNvPr>
            <p:cNvSpPr/>
            <p:nvPr/>
          </p:nvSpPr>
          <p:spPr>
            <a:xfrm>
              <a:off x="944880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667" dirty="0"/>
            </a:p>
          </p:txBody>
        </p:sp>
        <p:sp>
          <p:nvSpPr>
            <p:cNvPr id="36" name="Shape 41">
              <a:extLst>
                <a:ext uri="{FF2B5EF4-FFF2-40B4-BE49-F238E27FC236}">
                  <a16:creationId xmlns:a16="http://schemas.microsoft.com/office/drawing/2014/main" id="{A23EC638-CAA3-EF97-DDD0-9F99E56637E3}"/>
                </a:ext>
              </a:extLst>
            </p:cNvPr>
            <p:cNvSpPr/>
            <p:nvPr/>
          </p:nvSpPr>
          <p:spPr>
            <a:xfrm>
              <a:off x="1085088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7" name="Text 42">
              <a:extLst>
                <a:ext uri="{FF2B5EF4-FFF2-40B4-BE49-F238E27FC236}">
                  <a16:creationId xmlns:a16="http://schemas.microsoft.com/office/drawing/2014/main" id="{BE338C67-0E66-CCDD-E26C-A662182D1DCF}"/>
                </a:ext>
              </a:extLst>
            </p:cNvPr>
            <p:cNvSpPr/>
            <p:nvPr/>
          </p:nvSpPr>
          <p:spPr>
            <a:xfrm>
              <a:off x="1085088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2667" dirty="0"/>
            </a:p>
          </p:txBody>
        </p:sp>
        <p:sp>
          <p:nvSpPr>
            <p:cNvPr id="38" name="Text 43">
              <a:extLst>
                <a:ext uri="{FF2B5EF4-FFF2-40B4-BE49-F238E27FC236}">
                  <a16:creationId xmlns:a16="http://schemas.microsoft.com/office/drawing/2014/main" id="{70A3D05E-9289-13F0-4C5E-5148BDE9AA2C}"/>
                </a:ext>
              </a:extLst>
            </p:cNvPr>
            <p:cNvSpPr/>
            <p:nvPr/>
          </p:nvSpPr>
          <p:spPr>
            <a:xfrm>
              <a:off x="243840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</a:t>
              </a:r>
              <a:endParaRPr lang="en-US" sz="1467" dirty="0"/>
            </a:p>
          </p:txBody>
        </p:sp>
        <p:sp>
          <p:nvSpPr>
            <p:cNvPr id="39" name="Text 44">
              <a:extLst>
                <a:ext uri="{FF2B5EF4-FFF2-40B4-BE49-F238E27FC236}">
                  <a16:creationId xmlns:a16="http://schemas.microsoft.com/office/drawing/2014/main" id="{49E85FBA-A961-457F-2FA5-1ED78BFF3D25}"/>
                </a:ext>
              </a:extLst>
            </p:cNvPr>
            <p:cNvSpPr/>
            <p:nvPr/>
          </p:nvSpPr>
          <p:spPr>
            <a:xfrm>
              <a:off x="384048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</a:t>
              </a:r>
              <a:endParaRPr lang="en-US" sz="1467" dirty="0"/>
            </a:p>
          </p:txBody>
        </p:sp>
        <p:sp>
          <p:nvSpPr>
            <p:cNvPr id="40" name="Text 45">
              <a:extLst>
                <a:ext uri="{FF2B5EF4-FFF2-40B4-BE49-F238E27FC236}">
                  <a16:creationId xmlns:a16="http://schemas.microsoft.com/office/drawing/2014/main" id="{6B81A855-1C8F-DAE3-8D74-67D76EB4AA49}"/>
                </a:ext>
              </a:extLst>
            </p:cNvPr>
            <p:cNvSpPr/>
            <p:nvPr/>
          </p:nvSpPr>
          <p:spPr>
            <a:xfrm>
              <a:off x="524256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467" dirty="0"/>
            </a:p>
          </p:txBody>
        </p:sp>
        <p:sp>
          <p:nvSpPr>
            <p:cNvPr id="41" name="Text 46">
              <a:extLst>
                <a:ext uri="{FF2B5EF4-FFF2-40B4-BE49-F238E27FC236}">
                  <a16:creationId xmlns:a16="http://schemas.microsoft.com/office/drawing/2014/main" id="{CE7AEF55-F40F-C979-AC03-5015F66FE103}"/>
                </a:ext>
              </a:extLst>
            </p:cNvPr>
            <p:cNvSpPr/>
            <p:nvPr/>
          </p:nvSpPr>
          <p:spPr>
            <a:xfrm>
              <a:off x="664464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467" dirty="0"/>
            </a:p>
          </p:txBody>
        </p:sp>
        <p:sp>
          <p:nvSpPr>
            <p:cNvPr id="42" name="Text 47">
              <a:extLst>
                <a:ext uri="{FF2B5EF4-FFF2-40B4-BE49-F238E27FC236}">
                  <a16:creationId xmlns:a16="http://schemas.microsoft.com/office/drawing/2014/main" id="{E09ECD19-4DEF-51F4-8001-8A859953BA50}"/>
                </a:ext>
              </a:extLst>
            </p:cNvPr>
            <p:cNvSpPr/>
            <p:nvPr/>
          </p:nvSpPr>
          <p:spPr>
            <a:xfrm>
              <a:off x="804672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67" dirty="0"/>
            </a:p>
          </p:txBody>
        </p:sp>
        <p:sp>
          <p:nvSpPr>
            <p:cNvPr id="43" name="Text 48">
              <a:extLst>
                <a:ext uri="{FF2B5EF4-FFF2-40B4-BE49-F238E27FC236}">
                  <a16:creationId xmlns:a16="http://schemas.microsoft.com/office/drawing/2014/main" id="{2DB6F82A-3185-1E05-BC87-859A69BDB4B2}"/>
                </a:ext>
              </a:extLst>
            </p:cNvPr>
            <p:cNvSpPr/>
            <p:nvPr/>
          </p:nvSpPr>
          <p:spPr>
            <a:xfrm>
              <a:off x="944880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67" dirty="0"/>
            </a:p>
          </p:txBody>
        </p:sp>
        <p:sp>
          <p:nvSpPr>
            <p:cNvPr id="44" name="Text 49">
              <a:extLst>
                <a:ext uri="{FF2B5EF4-FFF2-40B4-BE49-F238E27FC236}">
                  <a16:creationId xmlns:a16="http://schemas.microsoft.com/office/drawing/2014/main" id="{ABFACE48-491E-E8F5-A028-5394EDF94446}"/>
                </a:ext>
              </a:extLst>
            </p:cNvPr>
            <p:cNvSpPr/>
            <p:nvPr/>
          </p:nvSpPr>
          <p:spPr>
            <a:xfrm>
              <a:off x="1085088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67" dirty="0"/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E91A4A6C-B199-853B-C5D1-7EB5E019E458}"/>
                </a:ext>
              </a:extLst>
            </p:cNvPr>
            <p:cNvSpPr/>
            <p:nvPr/>
          </p:nvSpPr>
          <p:spPr>
            <a:xfrm>
              <a:off x="6644640" y="1463040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46" name="Text 16">
              <a:extLst>
                <a:ext uri="{FF2B5EF4-FFF2-40B4-BE49-F238E27FC236}">
                  <a16:creationId xmlns:a16="http://schemas.microsoft.com/office/drawing/2014/main" id="{1C201495-E28D-3E3D-E57B-366046351B52}"/>
                </a:ext>
              </a:extLst>
            </p:cNvPr>
            <p:cNvSpPr/>
            <p:nvPr/>
          </p:nvSpPr>
          <p:spPr>
            <a:xfrm>
              <a:off x="6644640" y="1463040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i="1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47" name="Shape 15">
              <a:extLst>
                <a:ext uri="{FF2B5EF4-FFF2-40B4-BE49-F238E27FC236}">
                  <a16:creationId xmlns:a16="http://schemas.microsoft.com/office/drawing/2014/main" id="{F741F6CC-54F5-6CB0-2A9E-1250DE4D4B41}"/>
                </a:ext>
              </a:extLst>
            </p:cNvPr>
            <p:cNvSpPr/>
            <p:nvPr/>
          </p:nvSpPr>
          <p:spPr>
            <a:xfrm>
              <a:off x="664464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61AF4276-E17D-242D-1664-6DBF82733500}"/>
                </a:ext>
              </a:extLst>
            </p:cNvPr>
            <p:cNvSpPr/>
            <p:nvPr/>
          </p:nvSpPr>
          <p:spPr>
            <a:xfrm>
              <a:off x="664464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49" name="Shape 15">
              <a:extLst>
                <a:ext uri="{FF2B5EF4-FFF2-40B4-BE49-F238E27FC236}">
                  <a16:creationId xmlns:a16="http://schemas.microsoft.com/office/drawing/2014/main" id="{BCF93CB2-52CD-6D67-C06D-E5ADEE065D42}"/>
                </a:ext>
              </a:extLst>
            </p:cNvPr>
            <p:cNvSpPr/>
            <p:nvPr/>
          </p:nvSpPr>
          <p:spPr>
            <a:xfrm>
              <a:off x="664464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 dirty="0"/>
            </a:p>
          </p:txBody>
        </p:sp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DD28588C-133E-B657-ACAD-376136188C9B}"/>
                </a:ext>
              </a:extLst>
            </p:cNvPr>
            <p:cNvSpPr/>
            <p:nvPr/>
          </p:nvSpPr>
          <p:spPr>
            <a:xfrm>
              <a:off x="664464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i="1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60FDE5CA-D0B4-EB90-3132-56CAFFF95B26}"/>
                </a:ext>
              </a:extLst>
            </p:cNvPr>
            <p:cNvSpPr/>
            <p:nvPr/>
          </p:nvSpPr>
          <p:spPr>
            <a:xfrm>
              <a:off x="664464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61F7033D-8C26-BBC0-E4C5-5F17AE7E73C1}"/>
                </a:ext>
              </a:extLst>
            </p:cNvPr>
            <p:cNvSpPr/>
            <p:nvPr/>
          </p:nvSpPr>
          <p:spPr>
            <a:xfrm>
              <a:off x="664464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i="1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EF6E08F-D9E8-8452-736B-055D3BC64567}"/>
                  </a:ext>
                </a:extLst>
              </p:cNvPr>
              <p:cNvSpPr txBox="1"/>
              <p:nvPr/>
            </p:nvSpPr>
            <p:spPr>
              <a:xfrm>
                <a:off x="2548962" y="1580723"/>
                <a:ext cx="6762364" cy="483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=0,1,2,…, 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sz="28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EF6E08F-D9E8-8452-736B-055D3BC64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62" y="1580723"/>
                <a:ext cx="6762364" cy="483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itle 1">
            <a:extLst>
              <a:ext uri="{FF2B5EF4-FFF2-40B4-BE49-F238E27FC236}">
                <a16:creationId xmlns:a16="http://schemas.microsoft.com/office/drawing/2014/main" id="{96895C4C-5634-CDDA-C54C-9840E118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Spherical Harmonics Pyramid</a:t>
            </a:r>
          </a:p>
        </p:txBody>
      </p:sp>
    </p:spTree>
    <p:extLst>
      <p:ext uri="{BB962C8B-B14F-4D97-AF65-F5344CB8AC3E}">
        <p14:creationId xmlns:p14="http://schemas.microsoft.com/office/powerpoint/2010/main" val="196328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D4F4-1206-BAB4-68B3-B0CAE7F0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>
                    <a:lumMod val="85000"/>
                  </a:schemeClr>
                </a:solidFill>
              </a:rPr>
              <a:t>Forward and Inverse SHT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5DCF6-0B75-F302-1000-6868CD59B211}"/>
                  </a:ext>
                </a:extLst>
              </p:cNvPr>
              <p:cNvSpPr txBox="1"/>
              <p:nvPr/>
            </p:nvSpPr>
            <p:spPr>
              <a:xfrm>
                <a:off x="1622309" y="2350461"/>
                <a:ext cx="4569969" cy="883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AU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nary>
                      <m:r>
                        <a:rPr lang="en-AU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bar>
                        <m:barPr>
                          <m:pos m:val="top"/>
                          <m:ctrlPr>
                            <a:rPr lang="en-AU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bar>
                      <m:r>
                        <a:rPr lang="en-AU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AU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AU" sz="2800" i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AU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5DCF6-0B75-F302-1000-6868CD59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09" y="2350461"/>
                <a:ext cx="4569969" cy="8838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68413B-767B-1474-9453-F541F58E4875}"/>
                  </a:ext>
                </a:extLst>
              </p:cNvPr>
              <p:cNvSpPr txBox="1"/>
              <p:nvPr/>
            </p:nvSpPr>
            <p:spPr>
              <a:xfrm>
                <a:off x="7985547" y="2580345"/>
                <a:ext cx="20836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8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pt-BR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pt-BR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AU" sz="28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68413B-767B-1474-9453-F541F58E4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547" y="2580345"/>
                <a:ext cx="208364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36664-1552-E8C5-CF3C-81BF1BA85E92}"/>
                  </a:ext>
                </a:extLst>
              </p:cNvPr>
              <p:cNvSpPr txBox="1"/>
              <p:nvPr/>
            </p:nvSpPr>
            <p:spPr>
              <a:xfrm>
                <a:off x="3789097" y="4353835"/>
                <a:ext cx="5074723" cy="1176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C36664-1552-E8C5-CF3C-81BF1BA85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097" y="4353835"/>
                <a:ext cx="5074723" cy="1176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073A1A6-A91C-D3D4-5797-77A7E6E25287}"/>
              </a:ext>
            </a:extLst>
          </p:cNvPr>
          <p:cNvSpPr txBox="1"/>
          <p:nvPr/>
        </p:nvSpPr>
        <p:spPr>
          <a:xfrm>
            <a:off x="838200" y="3953725"/>
            <a:ext cx="1549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Inverse SHT:</a:t>
            </a:r>
            <a:endParaRPr lang="en-AU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60DE8-94F7-99B0-F9EF-F9BBF8447606}"/>
              </a:ext>
            </a:extLst>
          </p:cNvPr>
          <p:cNvSpPr txBox="1"/>
          <p:nvPr/>
        </p:nvSpPr>
        <p:spPr>
          <a:xfrm>
            <a:off x="990600" y="2002749"/>
            <a:ext cx="1661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Forward SHT:</a:t>
            </a:r>
            <a:endParaRPr lang="en-AU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12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73F4-8463-9AEF-A3AC-D019C45C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>
                    <a:lumMod val="95000"/>
                  </a:schemeClr>
                </a:solidFill>
              </a:rPr>
              <a:t>Bandlimited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B7409-98EC-4C1E-4267-1C5CBDD4C76B}"/>
                  </a:ext>
                </a:extLst>
              </p:cNvPr>
              <p:cNvSpPr txBox="1"/>
              <p:nvPr/>
            </p:nvSpPr>
            <p:spPr>
              <a:xfrm>
                <a:off x="1417154" y="2790989"/>
                <a:ext cx="27416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nor/>
                        </m:rPr>
                        <a:rPr lang="pt-BR" sz="28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pt-BR" sz="28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pt-BR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AU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B7409-98EC-4C1E-4267-1C5CBDD4C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154" y="2790989"/>
                <a:ext cx="274164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9D55CD5-FFA3-F832-4B42-C3002617BB88}"/>
              </a:ext>
            </a:extLst>
          </p:cNvPr>
          <p:cNvGrpSpPr/>
          <p:nvPr/>
        </p:nvGrpSpPr>
        <p:grpSpPr>
          <a:xfrm>
            <a:off x="5316770" y="2475005"/>
            <a:ext cx="6427860" cy="2830923"/>
            <a:chOff x="365760" y="1463040"/>
            <a:chExt cx="11765280" cy="5181600"/>
          </a:xfrm>
        </p:grpSpPr>
        <p:sp>
          <p:nvSpPr>
            <p:cNvPr id="11" name="Text 2">
              <a:extLst>
                <a:ext uri="{FF2B5EF4-FFF2-40B4-BE49-F238E27FC236}">
                  <a16:creationId xmlns:a16="http://schemas.microsoft.com/office/drawing/2014/main" id="{0B36E177-B4F1-8734-A19F-EB917B2056C9}"/>
                </a:ext>
              </a:extLst>
            </p:cNvPr>
            <p:cNvSpPr/>
            <p:nvPr/>
          </p:nvSpPr>
          <p:spPr>
            <a:xfrm>
              <a:off x="365760" y="2804160"/>
              <a:ext cx="146304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degree </a:t>
              </a:r>
              <a:r>
                <a:rPr lang="en-US" sz="1600" b="1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</a:t>
              </a:r>
              <a:endParaRPr lang="en-US" sz="1467" dirty="0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EF463C18-56CD-7474-A479-A9A7FB45E4BC}"/>
                </a:ext>
              </a:extLst>
            </p:cNvPr>
            <p:cNvSpPr/>
            <p:nvPr/>
          </p:nvSpPr>
          <p:spPr>
            <a:xfrm>
              <a:off x="1889760" y="1463040"/>
              <a:ext cx="0" cy="426720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17DD7C69-D7EA-E45F-981D-6AD5182C4841}"/>
                </a:ext>
              </a:extLst>
            </p:cNvPr>
            <p:cNvSpPr/>
            <p:nvPr/>
          </p:nvSpPr>
          <p:spPr>
            <a:xfrm>
              <a:off x="1645920" y="5547360"/>
              <a:ext cx="487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0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 sz="1067"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7DE0C9A-A78D-5FDD-0A9F-3F6154D57D68}"/>
                </a:ext>
              </a:extLst>
            </p:cNvPr>
            <p:cNvSpPr/>
            <p:nvPr/>
          </p:nvSpPr>
          <p:spPr>
            <a:xfrm>
              <a:off x="6370318" y="6217920"/>
              <a:ext cx="1828800" cy="426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</a:t>
              </a:r>
              <a:r>
                <a:rPr lang="en-US" sz="1600" b="1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</a:t>
              </a:r>
              <a:endParaRPr lang="en-US" sz="1467" dirty="0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45FF9BCA-8FD9-2C8B-C9DC-A2D6CA734B62}"/>
                </a:ext>
              </a:extLst>
            </p:cNvPr>
            <p:cNvSpPr/>
            <p:nvPr/>
          </p:nvSpPr>
          <p:spPr>
            <a:xfrm>
              <a:off x="2438400" y="5949696"/>
              <a:ext cx="9144000" cy="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569CBB46-4D28-E8FE-968E-D7C049494DFB}"/>
                </a:ext>
              </a:extLst>
            </p:cNvPr>
            <p:cNvSpPr/>
            <p:nvPr/>
          </p:nvSpPr>
          <p:spPr>
            <a:xfrm>
              <a:off x="1950720" y="1463040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733" dirty="0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5967809C-A1AF-B8D5-9C4A-A12064E7D0C7}"/>
                </a:ext>
              </a:extLst>
            </p:cNvPr>
            <p:cNvSpPr/>
            <p:nvPr/>
          </p:nvSpPr>
          <p:spPr>
            <a:xfrm>
              <a:off x="1950720" y="2535936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733" dirty="0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468DFF3F-238E-5AA0-1DDB-B47F95D3C61E}"/>
                </a:ext>
              </a:extLst>
            </p:cNvPr>
            <p:cNvSpPr/>
            <p:nvPr/>
          </p:nvSpPr>
          <p:spPr>
            <a:xfrm>
              <a:off x="524256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A4BB070F-3E9F-AF7C-D0A2-7AD0AF2F0BA1}"/>
                </a:ext>
              </a:extLst>
            </p:cNvPr>
            <p:cNvSpPr/>
            <p:nvPr/>
          </p:nvSpPr>
          <p:spPr>
            <a:xfrm>
              <a:off x="524256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</a:t>
              </a:r>
              <a:endParaRPr lang="en-US" sz="2667" dirty="0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E5B57EEF-3C20-61ED-C95F-C8515917F021}"/>
                </a:ext>
              </a:extLst>
            </p:cNvPr>
            <p:cNvSpPr/>
            <p:nvPr/>
          </p:nvSpPr>
          <p:spPr>
            <a:xfrm>
              <a:off x="804672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79821BE0-FC4F-A755-ABCD-94CFBA55120D}"/>
                </a:ext>
              </a:extLst>
            </p:cNvPr>
            <p:cNvSpPr/>
            <p:nvPr/>
          </p:nvSpPr>
          <p:spPr>
            <a:xfrm>
              <a:off x="804672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667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E25C9AE2-9E8E-E79E-CCB8-1169F726F426}"/>
                </a:ext>
              </a:extLst>
            </p:cNvPr>
            <p:cNvSpPr/>
            <p:nvPr/>
          </p:nvSpPr>
          <p:spPr>
            <a:xfrm>
              <a:off x="1950720" y="3608832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733" dirty="0"/>
            </a:p>
          </p:txBody>
        </p:sp>
        <p:sp>
          <p:nvSpPr>
            <p:cNvPr id="23" name="Shape 18">
              <a:extLst>
                <a:ext uri="{FF2B5EF4-FFF2-40B4-BE49-F238E27FC236}">
                  <a16:creationId xmlns:a16="http://schemas.microsoft.com/office/drawing/2014/main" id="{C1CE600F-F60F-B4E0-045F-B6A794099F20}"/>
                </a:ext>
              </a:extLst>
            </p:cNvPr>
            <p:cNvSpPr/>
            <p:nvPr/>
          </p:nvSpPr>
          <p:spPr>
            <a:xfrm>
              <a:off x="384048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F6A0FA4D-E6A9-7434-A444-761D4D00B760}"/>
                </a:ext>
              </a:extLst>
            </p:cNvPr>
            <p:cNvSpPr/>
            <p:nvPr/>
          </p:nvSpPr>
          <p:spPr>
            <a:xfrm>
              <a:off x="384048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−2</a:t>
              </a:r>
              <a:endParaRPr lang="en-US" sz="2667" dirty="0"/>
            </a:p>
          </p:txBody>
        </p:sp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C87A200C-6283-03E2-1AD3-DC0FDCDE2D87}"/>
                </a:ext>
              </a:extLst>
            </p:cNvPr>
            <p:cNvSpPr/>
            <p:nvPr/>
          </p:nvSpPr>
          <p:spPr>
            <a:xfrm>
              <a:off x="524256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900B3E4A-AB3D-FE5B-7945-F74F256095C9}"/>
                </a:ext>
              </a:extLst>
            </p:cNvPr>
            <p:cNvSpPr/>
            <p:nvPr/>
          </p:nvSpPr>
          <p:spPr>
            <a:xfrm>
              <a:off x="524256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</a:t>
              </a:r>
              <a:endParaRPr lang="en-US" sz="2667" dirty="0"/>
            </a:p>
          </p:txBody>
        </p:sp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FEAEC1C2-E5D2-9521-B9F0-D0288BAAB964}"/>
                </a:ext>
              </a:extLst>
            </p:cNvPr>
            <p:cNvSpPr/>
            <p:nvPr/>
          </p:nvSpPr>
          <p:spPr>
            <a:xfrm>
              <a:off x="804672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58306A88-B1F7-18F8-4621-83DC3B81708A}"/>
                </a:ext>
              </a:extLst>
            </p:cNvPr>
            <p:cNvSpPr/>
            <p:nvPr/>
          </p:nvSpPr>
          <p:spPr>
            <a:xfrm>
              <a:off x="804672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667" dirty="0"/>
            </a:p>
          </p:txBody>
        </p:sp>
        <p:sp>
          <p:nvSpPr>
            <p:cNvPr id="29" name="Shape 26">
              <a:extLst>
                <a:ext uri="{FF2B5EF4-FFF2-40B4-BE49-F238E27FC236}">
                  <a16:creationId xmlns:a16="http://schemas.microsoft.com/office/drawing/2014/main" id="{B2884888-08F3-1E9D-0874-9DAC58EA89F1}"/>
                </a:ext>
              </a:extLst>
            </p:cNvPr>
            <p:cNvSpPr/>
            <p:nvPr/>
          </p:nvSpPr>
          <p:spPr>
            <a:xfrm>
              <a:off x="944880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F3E0664F-1560-6490-8115-2BA1FD4E9441}"/>
                </a:ext>
              </a:extLst>
            </p:cNvPr>
            <p:cNvSpPr/>
            <p:nvPr/>
          </p:nvSpPr>
          <p:spPr>
            <a:xfrm>
              <a:off x="944880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667" dirty="0"/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2B5C4F2A-AFCE-55F6-F85B-F8AC57CC209C}"/>
                </a:ext>
              </a:extLst>
            </p:cNvPr>
            <p:cNvSpPr/>
            <p:nvPr/>
          </p:nvSpPr>
          <p:spPr>
            <a:xfrm>
              <a:off x="1950720" y="4681728"/>
              <a:ext cx="42672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733" dirty="0"/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66EED78A-588E-1701-0F15-2AECC8EB8DD5}"/>
                </a:ext>
              </a:extLst>
            </p:cNvPr>
            <p:cNvSpPr/>
            <p:nvPr/>
          </p:nvSpPr>
          <p:spPr>
            <a:xfrm>
              <a:off x="243840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0A68F9C8-036D-A12F-E0BF-A3179D53001D}"/>
                </a:ext>
              </a:extLst>
            </p:cNvPr>
            <p:cNvSpPr/>
            <p:nvPr/>
          </p:nvSpPr>
          <p:spPr>
            <a:xfrm>
              <a:off x="243840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52C83C4D-9ACE-3443-535C-C02EBDFB00F0}"/>
                </a:ext>
              </a:extLst>
            </p:cNvPr>
            <p:cNvSpPr/>
            <p:nvPr/>
          </p:nvSpPr>
          <p:spPr>
            <a:xfrm>
              <a:off x="384048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F5035B7A-DD01-ECAB-923C-EE592DB69A2E}"/>
                </a:ext>
              </a:extLst>
            </p:cNvPr>
            <p:cNvSpPr/>
            <p:nvPr/>
          </p:nvSpPr>
          <p:spPr>
            <a:xfrm>
              <a:off x="384048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80687B93-9E64-E3CA-A55D-E8BEC61A6C2A}"/>
                </a:ext>
              </a:extLst>
            </p:cNvPr>
            <p:cNvSpPr/>
            <p:nvPr/>
          </p:nvSpPr>
          <p:spPr>
            <a:xfrm>
              <a:off x="524256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87B9060C-9DE1-EFE2-1965-122F0E30E41E}"/>
                </a:ext>
              </a:extLst>
            </p:cNvPr>
            <p:cNvSpPr/>
            <p:nvPr/>
          </p:nvSpPr>
          <p:spPr>
            <a:xfrm>
              <a:off x="524256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38" name="Shape 37">
              <a:extLst>
                <a:ext uri="{FF2B5EF4-FFF2-40B4-BE49-F238E27FC236}">
                  <a16:creationId xmlns:a16="http://schemas.microsoft.com/office/drawing/2014/main" id="{915FC494-4FDC-0592-878D-941DA155D35E}"/>
                </a:ext>
              </a:extLst>
            </p:cNvPr>
            <p:cNvSpPr/>
            <p:nvPr/>
          </p:nvSpPr>
          <p:spPr>
            <a:xfrm>
              <a:off x="804672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39" name="Text 38">
              <a:extLst>
                <a:ext uri="{FF2B5EF4-FFF2-40B4-BE49-F238E27FC236}">
                  <a16:creationId xmlns:a16="http://schemas.microsoft.com/office/drawing/2014/main" id="{00EDFDCD-8530-3F54-1AF6-262D855EF90A}"/>
                </a:ext>
              </a:extLst>
            </p:cNvPr>
            <p:cNvSpPr/>
            <p:nvPr/>
          </p:nvSpPr>
          <p:spPr>
            <a:xfrm>
              <a:off x="804672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40" name="Shape 39">
              <a:extLst>
                <a:ext uri="{FF2B5EF4-FFF2-40B4-BE49-F238E27FC236}">
                  <a16:creationId xmlns:a16="http://schemas.microsoft.com/office/drawing/2014/main" id="{7196D242-A31A-AFB3-675B-FEB41EAE2501}"/>
                </a:ext>
              </a:extLst>
            </p:cNvPr>
            <p:cNvSpPr/>
            <p:nvPr/>
          </p:nvSpPr>
          <p:spPr>
            <a:xfrm>
              <a:off x="944880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F9784D55-096A-D50F-3A70-DF0277575694}"/>
                </a:ext>
              </a:extLst>
            </p:cNvPr>
            <p:cNvSpPr/>
            <p:nvPr/>
          </p:nvSpPr>
          <p:spPr>
            <a:xfrm>
              <a:off x="944880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42" name="Shape 41">
              <a:extLst>
                <a:ext uri="{FF2B5EF4-FFF2-40B4-BE49-F238E27FC236}">
                  <a16:creationId xmlns:a16="http://schemas.microsoft.com/office/drawing/2014/main" id="{5E954928-05AE-3726-0DA9-6631A05AC937}"/>
                </a:ext>
              </a:extLst>
            </p:cNvPr>
            <p:cNvSpPr/>
            <p:nvPr/>
          </p:nvSpPr>
          <p:spPr>
            <a:xfrm>
              <a:off x="1085088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43" name="Text 42">
              <a:extLst>
                <a:ext uri="{FF2B5EF4-FFF2-40B4-BE49-F238E27FC236}">
                  <a16:creationId xmlns:a16="http://schemas.microsoft.com/office/drawing/2014/main" id="{440C0A58-9B0A-5D99-6CAA-0D1BCD963B05}"/>
                </a:ext>
              </a:extLst>
            </p:cNvPr>
            <p:cNvSpPr/>
            <p:nvPr/>
          </p:nvSpPr>
          <p:spPr>
            <a:xfrm>
              <a:off x="1085088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44" name="Text 43">
              <a:extLst>
                <a:ext uri="{FF2B5EF4-FFF2-40B4-BE49-F238E27FC236}">
                  <a16:creationId xmlns:a16="http://schemas.microsoft.com/office/drawing/2014/main" id="{DE32BE3D-0390-3501-3D63-9CFBD485E4BF}"/>
                </a:ext>
              </a:extLst>
            </p:cNvPr>
            <p:cNvSpPr/>
            <p:nvPr/>
          </p:nvSpPr>
          <p:spPr>
            <a:xfrm>
              <a:off x="243840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</a:t>
              </a:r>
              <a:endParaRPr lang="en-US" sz="1467" dirty="0"/>
            </a:p>
          </p:txBody>
        </p:sp>
        <p:sp>
          <p:nvSpPr>
            <p:cNvPr id="45" name="Text 44">
              <a:extLst>
                <a:ext uri="{FF2B5EF4-FFF2-40B4-BE49-F238E27FC236}">
                  <a16:creationId xmlns:a16="http://schemas.microsoft.com/office/drawing/2014/main" id="{7098CBA9-A2F2-CBF0-AA52-95A381CC6DCB}"/>
                </a:ext>
              </a:extLst>
            </p:cNvPr>
            <p:cNvSpPr/>
            <p:nvPr/>
          </p:nvSpPr>
          <p:spPr>
            <a:xfrm>
              <a:off x="384048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</a:t>
              </a:r>
              <a:endParaRPr lang="en-US" sz="1467" dirty="0"/>
            </a:p>
          </p:txBody>
        </p:sp>
        <p:sp>
          <p:nvSpPr>
            <p:cNvPr id="46" name="Text 45">
              <a:extLst>
                <a:ext uri="{FF2B5EF4-FFF2-40B4-BE49-F238E27FC236}">
                  <a16:creationId xmlns:a16="http://schemas.microsoft.com/office/drawing/2014/main" id="{A391340F-6BC9-9F59-2266-28C3B78071DA}"/>
                </a:ext>
              </a:extLst>
            </p:cNvPr>
            <p:cNvSpPr/>
            <p:nvPr/>
          </p:nvSpPr>
          <p:spPr>
            <a:xfrm>
              <a:off x="524256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467" dirty="0"/>
            </a:p>
          </p:txBody>
        </p:sp>
        <p:sp>
          <p:nvSpPr>
            <p:cNvPr id="47" name="Text 46">
              <a:extLst>
                <a:ext uri="{FF2B5EF4-FFF2-40B4-BE49-F238E27FC236}">
                  <a16:creationId xmlns:a16="http://schemas.microsoft.com/office/drawing/2014/main" id="{65FF6E29-03E7-8261-DC09-CB924D6F0F16}"/>
                </a:ext>
              </a:extLst>
            </p:cNvPr>
            <p:cNvSpPr/>
            <p:nvPr/>
          </p:nvSpPr>
          <p:spPr>
            <a:xfrm>
              <a:off x="664464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467" dirty="0"/>
            </a:p>
          </p:txBody>
        </p:sp>
        <p:sp>
          <p:nvSpPr>
            <p:cNvPr id="48" name="Text 47">
              <a:extLst>
                <a:ext uri="{FF2B5EF4-FFF2-40B4-BE49-F238E27FC236}">
                  <a16:creationId xmlns:a16="http://schemas.microsoft.com/office/drawing/2014/main" id="{A0597BE5-18A3-5514-11A8-7FBDBCAD6DD8}"/>
                </a:ext>
              </a:extLst>
            </p:cNvPr>
            <p:cNvSpPr/>
            <p:nvPr/>
          </p:nvSpPr>
          <p:spPr>
            <a:xfrm>
              <a:off x="804672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67" dirty="0"/>
            </a:p>
          </p:txBody>
        </p:sp>
        <p:sp>
          <p:nvSpPr>
            <p:cNvPr id="49" name="Text 48">
              <a:extLst>
                <a:ext uri="{FF2B5EF4-FFF2-40B4-BE49-F238E27FC236}">
                  <a16:creationId xmlns:a16="http://schemas.microsoft.com/office/drawing/2014/main" id="{47317B90-846F-B994-3378-479081718C0E}"/>
                </a:ext>
              </a:extLst>
            </p:cNvPr>
            <p:cNvSpPr/>
            <p:nvPr/>
          </p:nvSpPr>
          <p:spPr>
            <a:xfrm>
              <a:off x="944880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67" dirty="0"/>
            </a:p>
          </p:txBody>
        </p:sp>
        <p:sp>
          <p:nvSpPr>
            <p:cNvPr id="50" name="Text 49">
              <a:extLst>
                <a:ext uri="{FF2B5EF4-FFF2-40B4-BE49-F238E27FC236}">
                  <a16:creationId xmlns:a16="http://schemas.microsoft.com/office/drawing/2014/main" id="{3E8CC8E2-A4AC-CB75-C455-05DED950DA8B}"/>
                </a:ext>
              </a:extLst>
            </p:cNvPr>
            <p:cNvSpPr/>
            <p:nvPr/>
          </p:nvSpPr>
          <p:spPr>
            <a:xfrm>
              <a:off x="10850880" y="5632704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467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67" dirty="0"/>
            </a:p>
          </p:txBody>
        </p:sp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C61C07F9-B4D9-4157-8583-2A78C1D9DFB1}"/>
                </a:ext>
              </a:extLst>
            </p:cNvPr>
            <p:cNvSpPr/>
            <p:nvPr/>
          </p:nvSpPr>
          <p:spPr>
            <a:xfrm>
              <a:off x="6644640" y="1463040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52" name="Text 16">
              <a:extLst>
                <a:ext uri="{FF2B5EF4-FFF2-40B4-BE49-F238E27FC236}">
                  <a16:creationId xmlns:a16="http://schemas.microsoft.com/office/drawing/2014/main" id="{EB59BE50-F923-03DC-9EC5-5850F7AA261F}"/>
                </a:ext>
              </a:extLst>
            </p:cNvPr>
            <p:cNvSpPr/>
            <p:nvPr/>
          </p:nvSpPr>
          <p:spPr>
            <a:xfrm>
              <a:off x="6644640" y="1463040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i="1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53" name="Shape 15">
              <a:extLst>
                <a:ext uri="{FF2B5EF4-FFF2-40B4-BE49-F238E27FC236}">
                  <a16:creationId xmlns:a16="http://schemas.microsoft.com/office/drawing/2014/main" id="{0B8809B7-31E4-48AB-6B35-7C69ACDD265D}"/>
                </a:ext>
              </a:extLst>
            </p:cNvPr>
            <p:cNvSpPr/>
            <p:nvPr/>
          </p:nvSpPr>
          <p:spPr>
            <a:xfrm>
              <a:off x="6644640" y="2535936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54" name="Text 16">
              <a:extLst>
                <a:ext uri="{FF2B5EF4-FFF2-40B4-BE49-F238E27FC236}">
                  <a16:creationId xmlns:a16="http://schemas.microsoft.com/office/drawing/2014/main" id="{88704B0A-4143-D4AD-3BB7-BB4301811111}"/>
                </a:ext>
              </a:extLst>
            </p:cNvPr>
            <p:cNvSpPr/>
            <p:nvPr/>
          </p:nvSpPr>
          <p:spPr>
            <a:xfrm>
              <a:off x="6644640" y="2535936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55" name="Shape 15">
              <a:extLst>
                <a:ext uri="{FF2B5EF4-FFF2-40B4-BE49-F238E27FC236}">
                  <a16:creationId xmlns:a16="http://schemas.microsoft.com/office/drawing/2014/main" id="{C528E849-3ED4-8B46-0E0D-9603C867DF5A}"/>
                </a:ext>
              </a:extLst>
            </p:cNvPr>
            <p:cNvSpPr/>
            <p:nvPr/>
          </p:nvSpPr>
          <p:spPr>
            <a:xfrm>
              <a:off x="6644640" y="3608832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 dirty="0"/>
            </a:p>
          </p:txBody>
        </p:sp>
        <p:sp>
          <p:nvSpPr>
            <p:cNvPr id="56" name="Text 16">
              <a:extLst>
                <a:ext uri="{FF2B5EF4-FFF2-40B4-BE49-F238E27FC236}">
                  <a16:creationId xmlns:a16="http://schemas.microsoft.com/office/drawing/2014/main" id="{C49C7AF0-D217-718A-1F7F-3BBD70207082}"/>
                </a:ext>
              </a:extLst>
            </p:cNvPr>
            <p:cNvSpPr/>
            <p:nvPr/>
          </p:nvSpPr>
          <p:spPr>
            <a:xfrm>
              <a:off x="6644640" y="3608832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Y</a:t>
              </a:r>
              <a:r>
                <a:rPr lang="en-US" sz="1600" i="1" baseline="-4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r>
                <a:rPr lang="en-US" sz="1600" baseline="30000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552E4162-D436-FBA8-39FA-CF3EC4865A78}"/>
                </a:ext>
              </a:extLst>
            </p:cNvPr>
            <p:cNvSpPr/>
            <p:nvPr/>
          </p:nvSpPr>
          <p:spPr>
            <a:xfrm>
              <a:off x="6644640" y="4681728"/>
              <a:ext cx="1280160" cy="950976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AU" sz="2400"/>
            </a:p>
          </p:txBody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0DC5D3D3-23FB-38AD-FD57-9B899805EB9B}"/>
                </a:ext>
              </a:extLst>
            </p:cNvPr>
            <p:cNvSpPr/>
            <p:nvPr/>
          </p:nvSpPr>
          <p:spPr>
            <a:xfrm>
              <a:off x="6644640" y="4681728"/>
              <a:ext cx="1280160" cy="9509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667" i="1" dirty="0">
                  <a:solidFill>
                    <a:srgbClr val="E2E8F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</a:t>
              </a:r>
              <a:endParaRPr lang="en-US" sz="2667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B5678C7-E1DB-5EB8-5939-BACC5968085A}"/>
                  </a:ext>
                </a:extLst>
              </p:cNvPr>
              <p:cNvSpPr txBox="1"/>
              <p:nvPr/>
            </p:nvSpPr>
            <p:spPr>
              <a:xfrm>
                <a:off x="-236369" y="4120547"/>
                <a:ext cx="60937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coefficients</m:t>
                          </m:r>
                          <m: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(</m:t>
                          </m:r>
                          <m:r>
                            <a:rPr lang="en-AU" sz="2400" i="1" dirty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AU" sz="2400" i="1" dirty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B5678C7-E1DB-5EB8-5939-BACC59680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369" y="4120547"/>
                <a:ext cx="6093724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2A7152CA-9946-2DB4-E5B0-A32906767EAC}"/>
              </a:ext>
            </a:extLst>
          </p:cNvPr>
          <p:cNvSpPr txBox="1"/>
          <p:nvPr/>
        </p:nvSpPr>
        <p:spPr>
          <a:xfrm>
            <a:off x="5783039" y="5290314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Example: Function bandlimited to degree 2</a:t>
            </a:r>
            <a:endParaRPr lang="en-A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D799F2-249E-A02D-E6D3-D3672B06AFC2}"/>
              </a:ext>
            </a:extLst>
          </p:cNvPr>
          <p:cNvSpPr txBox="1"/>
          <p:nvPr/>
        </p:nvSpPr>
        <p:spPr>
          <a:xfrm>
            <a:off x="447370" y="2242000"/>
            <a:ext cx="448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For a function bandlimited to degree N:</a:t>
            </a:r>
            <a:endParaRPr lang="en-AU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4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3E685-F082-7E80-B957-35D1F141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8B4C-E4B3-72BB-1641-63207E66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>
                    <a:lumMod val="95000"/>
                  </a:schemeClr>
                </a:solidFill>
              </a:rPr>
              <a:t>Discrete Spherical Harmonic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D3FF6C4-BA6D-249F-498C-58A4400CE765}"/>
                  </a:ext>
                </a:extLst>
              </p:cNvPr>
              <p:cNvSpPr txBox="1"/>
              <p:nvPr/>
            </p:nvSpPr>
            <p:spPr>
              <a:xfrm>
                <a:off x="3558638" y="1837523"/>
                <a:ext cx="5074723" cy="1220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i="1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D3FF6C4-BA6D-249F-498C-58A4400CE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638" y="1837523"/>
                <a:ext cx="5074723" cy="1220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B640417-DAFD-3BBC-6944-AA96D7C20708}"/>
              </a:ext>
            </a:extLst>
          </p:cNvPr>
          <p:cNvSpPr txBox="1"/>
          <p:nvPr/>
        </p:nvSpPr>
        <p:spPr>
          <a:xfrm>
            <a:off x="838200" y="4818185"/>
            <a:ext cx="108602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How do we choose sample points and weights so that the discrete SHT is accurate or exact for bandlimited functions?</a:t>
            </a:r>
            <a:endParaRPr lang="en-AU" sz="2400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467FF0-6005-9A37-3816-69FB4F9A6686}"/>
                  </a:ext>
                </a:extLst>
              </p:cNvPr>
              <p:cNvSpPr txBox="1"/>
              <p:nvPr/>
            </p:nvSpPr>
            <p:spPr>
              <a:xfrm>
                <a:off x="3352235" y="3391750"/>
                <a:ext cx="5281126" cy="10928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28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AU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 lang="en-AU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AU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AU" sz="28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bar>
                        <m:barPr>
                          <m:pos m:val="top"/>
                          <m:ctrlPr>
                            <a:rPr lang="en-AU" sz="28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AU" sz="2800" i="1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AU" sz="2800" i="1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ba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467FF0-6005-9A37-3816-69FB4F9A6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235" y="3391750"/>
                <a:ext cx="5281126" cy="1092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04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3F1C-C68F-4589-00A3-7A9CFAC9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Spherical Sampling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3C659-80E4-15CF-D4C0-176C67C4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Determines where and how we weight each of the samples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Sampling affects: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Exactness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Implementation complexity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Computational efficiency and cost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Numerical stability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68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1A35-51F1-202B-8D83-38802ABD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8" y="68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Driscoll-Healy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Equiangular Grid, Symmetric Spacing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991549A-7D0E-87EF-686D-C4EE959DC5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2636083"/>
                  </p:ext>
                </p:extLst>
              </p:nvPr>
            </p:nvGraphicFramePr>
            <p:xfrm>
              <a:off x="661739" y="1337325"/>
              <a:ext cx="6839315" cy="499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4096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4645219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=0,1,…,2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=0,1,…,2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dirty="0"/>
                            <a:t>Weights only depend on the latitude ring</a:t>
                          </a:r>
                          <a:br>
                            <a:rPr lang="en-US" dirty="0"/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func>
                                      <m:func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p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i="0" smtClean="0">
                                                <a:latin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+1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 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func>
                                      </m:num>
                                      <m:den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Exact SHT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Regular Grid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Easy to implement geometrically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Oversampling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Wasted Points at the Poles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991549A-7D0E-87EF-686D-C4EE959DC5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2636083"/>
                  </p:ext>
                </p:extLst>
              </p:nvPr>
            </p:nvGraphicFramePr>
            <p:xfrm>
              <a:off x="661739" y="1337325"/>
              <a:ext cx="6839315" cy="4992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94096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4645219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313" t="-59048" r="-524" b="-6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61048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313" t="-167000" r="-524" b="-57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313" t="-437705" r="-524" b="-834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11711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313" t="-169948" r="-524" b="-163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Exact SHT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Regular Grid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Easy to implement geometrically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Oversampling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Wasted Points at the Poles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8BAC8FD-00CB-F5C0-3959-C4AFD1260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29" y="-318053"/>
            <a:ext cx="4074413" cy="7107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3DA22D-9409-B83D-236D-83629E97F861}"/>
              </a:ext>
            </a:extLst>
          </p:cNvPr>
          <p:cNvSpPr txBox="1"/>
          <p:nvPr/>
        </p:nvSpPr>
        <p:spPr>
          <a:xfrm>
            <a:off x="8935844" y="267630"/>
            <a:ext cx="183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Q = 100 for N = 5</a:t>
            </a:r>
            <a:endParaRPr lang="en-AU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51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4C9D7-2A88-E4F9-B0AF-17E6ECA6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B63554-83AF-8816-B94D-49C4C7622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6629" y="-318052"/>
            <a:ext cx="4074412" cy="7107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A926AC-F630-BCFE-F7DD-1D600B2C94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963279"/>
                  </p:ext>
                </p:extLst>
              </p:nvPr>
            </p:nvGraphicFramePr>
            <p:xfrm>
              <a:off x="532079" y="1497583"/>
              <a:ext cx="6747308" cy="44254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3170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4544138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=0,1,…,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=0,1,…,2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func>
                                  <m:func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f>
                                          <m:f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func>
                                              <m:func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d>
                                                      <m:dPr>
                                                        <m:ctrlP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+1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 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</m:func>
                                          </m:num>
                                          <m:den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den>
                                        </m:f>
                                      </m:e>
                                    </m:nary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Minimizes sample count (compared to DH)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No pole samples (due to shift)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Oversampling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Pooling at Poles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2A926AC-F630-BCFE-F7DD-1D600B2C94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963279"/>
                  </p:ext>
                </p:extLst>
              </p:nvPr>
            </p:nvGraphicFramePr>
            <p:xfrm>
              <a:off x="532079" y="1497583"/>
              <a:ext cx="6747308" cy="44254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3170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4544138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62198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660" t="-60784" r="-536" b="-5696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61048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660" t="-164000" r="-536" b="-48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660" t="-432787" r="-536" b="-6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89681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660" t="-219595" r="-536" b="-183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Minimizes sample count (compared to DH)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No pole samples (due to shift)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Oversampling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Pooling at Poles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86A49A1-5063-4091-04C7-4DAE3DE93806}"/>
              </a:ext>
            </a:extLst>
          </p:cNvPr>
          <p:cNvSpPr txBox="1"/>
          <p:nvPr/>
        </p:nvSpPr>
        <p:spPr>
          <a:xfrm>
            <a:off x="8935844" y="267630"/>
            <a:ext cx="171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Q = 45 for N = 5</a:t>
            </a:r>
            <a:endParaRPr lang="en-AU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D61FED-2468-7F74-6C5D-98B449C7C9CD}"/>
              </a:ext>
            </a:extLst>
          </p:cNvPr>
          <p:cNvSpPr txBox="1">
            <a:spLocks/>
          </p:cNvSpPr>
          <p:nvPr/>
        </p:nvSpPr>
        <p:spPr>
          <a:xfrm>
            <a:off x="500958" y="684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McEwen-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Wiaux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Shifted poles; Minimal Sampling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80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54E8E-27FB-6C79-9784-C38F4F16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7029-7246-6178-7422-0368BB77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Gauss-Legendre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CFDAE-DA38-FD5C-7769-A9CB4E0E0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6629" y="-318052"/>
            <a:ext cx="4074412" cy="7107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7D62CA7-556D-B42E-22A3-1D199F423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43096"/>
                  </p:ext>
                </p:extLst>
              </p:nvPr>
            </p:nvGraphicFramePr>
            <p:xfrm>
              <a:off x="424768" y="1690688"/>
              <a:ext cx="7025604" cy="46043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2106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5073498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Roots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Legendre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Polynomial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=0,1,…,2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  <m:d>
                                              <m:dPr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Minimizes sample count (compared to DH)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No pole samples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There is a need to compute node locations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Irregular colatitude spacing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7D62CA7-556D-B42E-22A3-1D199F423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543096"/>
                  </p:ext>
                </p:extLst>
              </p:nvPr>
            </p:nvGraphicFramePr>
            <p:xfrm>
              <a:off x="424768" y="1690688"/>
              <a:ext cx="7025604" cy="46043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2106">
                      <a:extLst>
                        <a:ext uri="{9D8B030D-6E8A-4147-A177-3AD203B41FA5}">
                          <a16:colId xmlns:a16="http://schemas.microsoft.com/office/drawing/2014/main" val="2830807307"/>
                        </a:ext>
                      </a:extLst>
                    </a:gridCol>
                    <a:gridCol w="5073498">
                      <a:extLst>
                        <a:ext uri="{9D8B030D-6E8A-4147-A177-3AD203B41FA5}">
                          <a16:colId xmlns:a16="http://schemas.microsoft.com/office/drawing/2014/main" val="616337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78862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Colatitude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55" t="-59048" r="-480" b="-57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173059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Azimuth Sampling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55" t="-159048" r="-480" b="-47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5931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Total Sample Count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55" t="-259048" r="-480" b="-37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4456537"/>
                      </a:ext>
                    </a:extLst>
                  </a:tr>
                  <a:tr h="75876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Quadrature Weights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655" t="-301600" r="-480" b="-217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816357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Advantages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Minimizes sample count (compared to DH)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No pole samples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Efficient algorithms exist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265937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Tradeoffs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There is a need to compute node locations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Irregular colatitude spacing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1966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EA1F8A-8CF3-1A5D-FE02-EAA18A656B14}"/>
              </a:ext>
            </a:extLst>
          </p:cNvPr>
          <p:cNvSpPr txBox="1"/>
          <p:nvPr/>
        </p:nvSpPr>
        <p:spPr>
          <a:xfrm>
            <a:off x="8935844" y="267630"/>
            <a:ext cx="171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Q = 50 for N = 5</a:t>
            </a:r>
            <a:endParaRPr lang="en-AU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533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A2EC2-226F-AEE3-84F2-F4CD8005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F92FC5-BD52-D254-E7EF-529884BEB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747" y="698709"/>
            <a:ext cx="2433671" cy="42454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DA7A7E-5819-B7AE-D146-BFB05AFED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8328" y="698708"/>
            <a:ext cx="2433671" cy="4245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3B8AEB-ADC2-6335-D4F6-99B99DD8E7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4791" y="698708"/>
            <a:ext cx="2433670" cy="42454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BA7E32-2EAA-0813-A6F8-7C9B81F32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4657" y="698708"/>
            <a:ext cx="2433670" cy="4245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89FAE6-7327-EA8E-5C5C-68B7E7F5B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4924" y="698708"/>
            <a:ext cx="2433671" cy="4245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FE2FE34-DB42-AFD2-5157-8DE61590C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782460"/>
                  </p:ext>
                </p:extLst>
              </p:nvPr>
            </p:nvGraphicFramePr>
            <p:xfrm>
              <a:off x="-8747" y="5021574"/>
              <a:ext cx="12200745" cy="17591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2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FE2FE34-DB42-AFD2-5157-8DE61590C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782460"/>
                  </p:ext>
                </p:extLst>
              </p:nvPr>
            </p:nvGraphicFramePr>
            <p:xfrm>
              <a:off x="-8747" y="5021574"/>
              <a:ext cx="12200745" cy="17591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= 2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646621"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0" t="-174766" r="-250" b="-186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BF0BDD5-5B22-5606-2E2D-39FFBE77ECFC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B61DB8-34A4-04B1-0231-7994A018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Polyhedral Grids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Polyhedron inscribed in a sphere (Vertices as Sample Points)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620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0BB0E-DA38-9927-A62E-D04125D97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5D16BB-CC1A-8E2F-1DA3-EEF27545E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747" y="698709"/>
            <a:ext cx="2433670" cy="42454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E60F54-7CC7-B6B7-0DDC-0499A8FB1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8328" y="698708"/>
            <a:ext cx="2433670" cy="4245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073EA-DF78-E203-D4CD-31E70C666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4791" y="726590"/>
            <a:ext cx="2433670" cy="41896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29F63-C7CA-9B9E-BAB1-8A3CD7B43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4657" y="698708"/>
            <a:ext cx="2433670" cy="42454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ED6372-CFA0-6DE5-7A35-7596E099F0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4924" y="698708"/>
            <a:ext cx="2433670" cy="4245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9F54368-4AD7-B422-9671-74CFB49CDE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089518"/>
                  </p:ext>
                </p:extLst>
              </p:nvPr>
            </p:nvGraphicFramePr>
            <p:xfrm>
              <a:off x="-8747" y="5021574"/>
              <a:ext cx="12200745" cy="1504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42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50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increases with Q; exact values require numerical verification</a:t>
                          </a:r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Separate weights for vertices and edges: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vertices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edges</m:t>
                                  </m:r>
                                </m:sub>
                              </m:sSub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9F54368-4AD7-B422-9671-74CFB49CDE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089518"/>
                  </p:ext>
                </p:extLst>
              </p:nvPr>
            </p:nvGraphicFramePr>
            <p:xfrm>
              <a:off x="-8747" y="5021574"/>
              <a:ext cx="12200745" cy="1504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42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50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increases with Q; exact values require numerical verification</a:t>
                          </a:r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391668"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0" t="-287692" r="-250" b="-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B5B69A2-5006-A7F2-A16E-BE997F2EDF7B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402224-6A67-96AD-8748-0AE9A855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Polyhedral Grids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Vertices + Midpoints of Edges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068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7CEC2-A7AF-C5DE-2DE5-AEF210C5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63E233-D89B-C38C-D098-DCCCF2B5B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747" y="704345"/>
            <a:ext cx="2433670" cy="4234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AFB8EA-6FE6-C38F-0D24-BA2C78ECBE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8327" y="726589"/>
            <a:ext cx="2453915" cy="415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F375E4-8B89-028D-16A2-F76F0FF7C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8556" y="698706"/>
            <a:ext cx="2593043" cy="42341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6DE74F-5800-E0CF-04FD-86A7E6CAF1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4657" y="726589"/>
            <a:ext cx="2433670" cy="4189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0AC482-4F40-5417-D4E5-D3016ADE06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4924" y="698708"/>
            <a:ext cx="2433670" cy="42454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628AD2E-E4B9-E77F-7E70-2021DE611F8E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236D1D-0657-BB77-2683-C12DDE363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Polyhedral Grids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Vertices + Midpoints of Edges + Centers of Faces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13612B-8100-D44A-5497-E768D1BA1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667516"/>
                  </p:ext>
                </p:extLst>
              </p:nvPr>
            </p:nvGraphicFramePr>
            <p:xfrm>
              <a:off x="-8747" y="5021574"/>
              <a:ext cx="12200745" cy="1504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62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increases with Q; exact values require numerical verification</a:t>
                          </a:r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Separate weights for vertices,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dirty="0"/>
                            <a:t>edges, and face centers: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vertices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edges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faces</m:t>
                                  </m:r>
                                </m:sub>
                              </m:sSub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13612B-8100-D44A-5497-E768D1BA1D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667516"/>
                  </p:ext>
                </p:extLst>
              </p:nvPr>
            </p:nvGraphicFramePr>
            <p:xfrm>
              <a:off x="-8747" y="5021574"/>
              <a:ext cx="12200745" cy="1504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0149">
                      <a:extLst>
                        <a:ext uri="{9D8B030D-6E8A-4147-A177-3AD203B41FA5}">
                          <a16:colId xmlns:a16="http://schemas.microsoft.com/office/drawing/2014/main" val="3066714941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1208615476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98061149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802662644"/>
                        </a:ext>
                      </a:extLst>
                    </a:gridCol>
                    <a:gridCol w="2440149">
                      <a:extLst>
                        <a:ext uri="{9D8B030D-6E8A-4147-A177-3AD203B41FA5}">
                          <a16:colId xmlns:a16="http://schemas.microsoft.com/office/drawing/2014/main" val="2882515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Tetrahedron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Octahedron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Hexahedron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Icosahedron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Dodecahedron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8821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14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 = 62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4417164"/>
                      </a:ext>
                    </a:extLst>
                  </a:tr>
                  <a:tr h="37084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N increases with Q; exact values require numerical verification</a:t>
                          </a:r>
                          <a:endParaRPr lang="en-AU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7676441"/>
                      </a:ext>
                    </a:extLst>
                  </a:tr>
                  <a:tr h="391668"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0" t="-287692" r="-250" b="-2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3928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7105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31803-4C83-7CFE-E7D7-38C12BA2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A44A1F-3256-F166-6932-CBEEF547B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516" y="704345"/>
            <a:ext cx="2427208" cy="4234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14BFEE-5BD0-CE0C-73F6-A4FCF0A53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5804" y="726589"/>
            <a:ext cx="2398961" cy="415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1F7B68-ECB8-A815-8D92-EC6399ED0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2398" y="698706"/>
            <a:ext cx="2485358" cy="42341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426CB0-5497-04E7-EE39-713953882B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640" y="726589"/>
            <a:ext cx="2401704" cy="4189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68F490-B0E5-E80D-5CBA-5739EE15DE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4924" y="698708"/>
            <a:ext cx="2433669" cy="42454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C3D61F-EAD7-7B96-A074-6F6316760D53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24EAF0-BDE4-82E4-094B-F57EFA30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Polyhedral Grids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Vertices + Midpoints of Edges + Subdivided Faces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ACCB4E-F455-E10A-FE58-3AF9CB90A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750229"/>
              </p:ext>
            </p:extLst>
          </p:nvPr>
        </p:nvGraphicFramePr>
        <p:xfrm>
          <a:off x="-8747" y="5021574"/>
          <a:ext cx="122007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149">
                  <a:extLst>
                    <a:ext uri="{9D8B030D-6E8A-4147-A177-3AD203B41FA5}">
                      <a16:colId xmlns:a16="http://schemas.microsoft.com/office/drawing/2014/main" val="3066714941"/>
                    </a:ext>
                  </a:extLst>
                </a:gridCol>
                <a:gridCol w="2440149">
                  <a:extLst>
                    <a:ext uri="{9D8B030D-6E8A-4147-A177-3AD203B41FA5}">
                      <a16:colId xmlns:a16="http://schemas.microsoft.com/office/drawing/2014/main" val="1208615476"/>
                    </a:ext>
                  </a:extLst>
                </a:gridCol>
                <a:gridCol w="2440149">
                  <a:extLst>
                    <a:ext uri="{9D8B030D-6E8A-4147-A177-3AD203B41FA5}">
                      <a16:colId xmlns:a16="http://schemas.microsoft.com/office/drawing/2014/main" val="98061149"/>
                    </a:ext>
                  </a:extLst>
                </a:gridCol>
                <a:gridCol w="2440149">
                  <a:extLst>
                    <a:ext uri="{9D8B030D-6E8A-4147-A177-3AD203B41FA5}">
                      <a16:colId xmlns:a16="http://schemas.microsoft.com/office/drawing/2014/main" val="802662644"/>
                    </a:ext>
                  </a:extLst>
                </a:gridCol>
                <a:gridCol w="2440149">
                  <a:extLst>
                    <a:ext uri="{9D8B030D-6E8A-4147-A177-3AD203B41FA5}">
                      <a16:colId xmlns:a16="http://schemas.microsoft.com/office/drawing/2014/main" val="2882515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Tetrahedron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Octahedron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Hexahedron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Icosahedron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Dodecahedron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82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58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74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142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 = 206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17164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N increases with Q; exact values require numerical verification</a:t>
                      </a:r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7644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Weights are determined numerically</a:t>
                      </a:r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9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328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F2F17-9C20-424E-6125-FDD01157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9214A-7B82-9F31-7BE7-595D2E0D066E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790CE2-184F-AF5F-4701-16AC8F96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Polyhedral Grids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Advantages and Trade-offs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7B9A6-56EC-A37F-4A86-0BEB6EF9A114}"/>
              </a:ext>
            </a:extLst>
          </p:cNvPr>
          <p:cNvSpPr txBox="1"/>
          <p:nvPr/>
        </p:nvSpPr>
        <p:spPr>
          <a:xfrm>
            <a:off x="516835" y="1757238"/>
            <a:ext cx="97286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Inherit the symmetry of the parent polyhedron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Fewer nodes needed for an SHT degree compared to equiangular grids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More uniform coverage over the sphere</a:t>
            </a:r>
            <a:endParaRPr lang="en-AU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DABFD-6B5E-C746-6A07-CA920E3BE977}"/>
              </a:ext>
            </a:extLst>
          </p:cNvPr>
          <p:cNvSpPr txBox="1"/>
          <p:nvPr/>
        </p:nvSpPr>
        <p:spPr>
          <a:xfrm>
            <a:off x="516834" y="3429000"/>
            <a:ext cx="106480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Quadrature weights need to be determined numerically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More difficult to implement geometrically and complexity grows with each tier</a:t>
            </a:r>
          </a:p>
          <a:p>
            <a:pPr marL="285750" indent="-285750">
              <a:buFontTx/>
              <a:buChar char="-"/>
            </a:pPr>
            <a:r>
              <a:rPr lang="en-AU" sz="2400" dirty="0">
                <a:solidFill>
                  <a:schemeClr val="bg1">
                    <a:lumMod val="85000"/>
                  </a:schemeClr>
                </a:solidFill>
              </a:rPr>
              <a:t>Less compatible with fast algorithms</a:t>
            </a:r>
          </a:p>
        </p:txBody>
      </p:sp>
    </p:spTree>
    <p:extLst>
      <p:ext uri="{BB962C8B-B14F-4D97-AF65-F5344CB8AC3E}">
        <p14:creationId xmlns:p14="http://schemas.microsoft.com/office/powerpoint/2010/main" val="2834189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755DC-2AA1-F659-0C7A-ACCE9609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F3518-FED0-6172-EF12-9DA22C03EB80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85DBE8-ACCB-AED3-6F1B-1BE3F27F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Which Sampling Scheme Should We Use?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D3E51-BCE9-677A-EEA2-FF88B3C46FFF}"/>
              </a:ext>
            </a:extLst>
          </p:cNvPr>
          <p:cNvSpPr txBox="1"/>
          <p:nvPr/>
        </p:nvSpPr>
        <p:spPr>
          <a:xfrm>
            <a:off x="516835" y="1757238"/>
            <a:ext cx="339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It depends on the goal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B78F0-098F-8BEF-0E71-12AE2FC7B08D}"/>
              </a:ext>
            </a:extLst>
          </p:cNvPr>
          <p:cNvSpPr txBox="1"/>
          <p:nvPr/>
        </p:nvSpPr>
        <p:spPr>
          <a:xfrm>
            <a:off x="516835" y="2459504"/>
            <a:ext cx="79583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For a simpler implementation and if oversampling is fine: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Use one of the classical equiangular schemes</a:t>
            </a:r>
          </a:p>
          <a:p>
            <a:pPr marL="742950" lvl="1" indent="-285750">
              <a:buFontTx/>
              <a:buChar char="-"/>
            </a:pP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AU" sz="2400" dirty="0">
                <a:solidFill>
                  <a:schemeClr val="bg1">
                    <a:lumMod val="85000"/>
                  </a:schemeClr>
                </a:solidFill>
              </a:rPr>
              <a:t>If rotational symmetry and geometric uniformity matters:</a:t>
            </a:r>
          </a:p>
          <a:p>
            <a:pPr marL="742950" lvl="1" indent="-285750">
              <a:buFontTx/>
              <a:buChar char="-"/>
            </a:pPr>
            <a:r>
              <a:rPr lang="en-AU" sz="2400" dirty="0">
                <a:solidFill>
                  <a:schemeClr val="bg1">
                    <a:lumMod val="85000"/>
                  </a:schemeClr>
                </a:solidFill>
              </a:rPr>
              <a:t>Use a polyhedral grid</a:t>
            </a:r>
          </a:p>
        </p:txBody>
      </p:sp>
    </p:spTree>
    <p:extLst>
      <p:ext uri="{BB962C8B-B14F-4D97-AF65-F5344CB8AC3E}">
        <p14:creationId xmlns:p14="http://schemas.microsoft.com/office/powerpoint/2010/main" val="2437208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3385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13385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682752" y="2682240"/>
            <a:ext cx="1316736" cy="1463040"/>
          </a:xfrm>
          <a:prstGeom prst="rect">
            <a:avLst/>
          </a:prstGeom>
          <a:solidFill>
            <a:srgbClr val="0E3460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8275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Sphere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199948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271881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271881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2267712" y="2682240"/>
            <a:ext cx="1316736" cy="1463040"/>
          </a:xfrm>
          <a:prstGeom prst="rect">
            <a:avLst/>
          </a:prstGeom>
          <a:solidFill>
            <a:srgbClr val="0E3460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26771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Bandlimit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358444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430377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30377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3852672" y="2682240"/>
            <a:ext cx="1316736" cy="1463040"/>
          </a:xfrm>
          <a:prstGeom prst="rect">
            <a:avLst/>
          </a:prstGeom>
          <a:solidFill>
            <a:srgbClr val="0E3460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385267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Grid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16940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588873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588873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437632" y="2682240"/>
            <a:ext cx="1316736" cy="1463040"/>
          </a:xfrm>
          <a:prstGeom prst="rect">
            <a:avLst/>
          </a:prstGeom>
          <a:solidFill>
            <a:srgbClr val="143D72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43763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Sphere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75436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747369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47369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7022592" y="2682240"/>
            <a:ext cx="1316736" cy="1463040"/>
          </a:xfrm>
          <a:prstGeom prst="rect">
            <a:avLst/>
          </a:prstGeom>
          <a:solidFill>
            <a:srgbClr val="1A4780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02259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833932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905865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905865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8607552" y="2682240"/>
            <a:ext cx="1316736" cy="1463040"/>
          </a:xfrm>
          <a:prstGeom prst="rect">
            <a:avLst/>
          </a:prstGeom>
          <a:solidFill>
            <a:srgbClr val="20518E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860755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9924288" y="3413760"/>
            <a:ext cx="268224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10643616" y="2170176"/>
            <a:ext cx="414528" cy="4145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10643616" y="217017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10192512" y="2682240"/>
            <a:ext cx="1316736" cy="1463040"/>
          </a:xfrm>
          <a:prstGeom prst="rect">
            <a:avLst/>
          </a:prstGeom>
          <a:solidFill>
            <a:srgbClr val="26599C"/>
          </a:solidFill>
          <a:ln w="1905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10192512" y="2682240"/>
            <a:ext cx="1316736" cy="146304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33" dirty="0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086B357-0524-798D-41CE-1C4AF6D0ECB5}"/>
              </a:ext>
            </a:extLst>
          </p:cNvPr>
          <p:cNvSpPr txBox="1">
            <a:spLocks/>
          </p:cNvSpPr>
          <p:nvPr/>
        </p:nvSpPr>
        <p:spPr>
          <a:xfrm>
            <a:off x="262128" y="422307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Spherical Sampling Pipeline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AF7CD-0442-1930-238E-9FF62039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24F49-DD8E-797F-2090-C1B12A68BF84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8734C2-69FE-EF03-C8B2-1B1ECB2A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90" y="7728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Symmetries of the Sphere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Next Steps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3846D-8081-7D03-A572-923B9CA1F399}"/>
              </a:ext>
            </a:extLst>
          </p:cNvPr>
          <p:cNvSpPr txBox="1"/>
          <p:nvPr/>
        </p:nvSpPr>
        <p:spPr>
          <a:xfrm>
            <a:off x="516835" y="1714862"/>
            <a:ext cx="75133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The sphere is acted on by the group of rotations SO(3)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Finite subgroups of SO(3):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Cyclic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Dihedral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Tetrahedral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Octahedral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Icosahedral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AA996-A672-84BF-E631-AABA735813F6}"/>
              </a:ext>
            </a:extLst>
          </p:cNvPr>
          <p:cNvSpPr txBox="1"/>
          <p:nvPr/>
        </p:nvSpPr>
        <p:spPr>
          <a:xfrm>
            <a:off x="391671" y="4761850"/>
            <a:ext cx="10050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How can these symmetries guide the design of spherical sampling grids?</a:t>
            </a:r>
          </a:p>
        </p:txBody>
      </p:sp>
    </p:spTree>
    <p:extLst>
      <p:ext uri="{BB962C8B-B14F-4D97-AF65-F5344CB8AC3E}">
        <p14:creationId xmlns:p14="http://schemas.microsoft.com/office/powerpoint/2010/main" val="116168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39230-041D-45CA-F025-176B81AF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E85738-67E8-F088-2EB0-0918FEAA3E39}"/>
              </a:ext>
            </a:extLst>
          </p:cNvPr>
          <p:cNvSpPr/>
          <p:nvPr/>
        </p:nvSpPr>
        <p:spPr>
          <a:xfrm>
            <a:off x="0" y="389299"/>
            <a:ext cx="12200745" cy="6518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E61AED-EC9F-D9AE-771D-ED64F2ED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14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bg1">
                    <a:lumMod val="95000"/>
                  </a:schemeClr>
                </a:solidFill>
              </a:rPr>
              <a:t>THANK YOU</a:t>
            </a:r>
            <a:endParaRPr lang="en-US" sz="6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70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1360</Words>
  <Application>Microsoft Macintosh PowerPoint</Application>
  <PresentationFormat>Widescreen</PresentationFormat>
  <Paragraphs>313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Aptos ExtraBold</vt:lpstr>
      <vt:lpstr>Arial</vt:lpstr>
      <vt:lpstr>Calibri</vt:lpstr>
      <vt:lpstr>Cambria</vt:lpstr>
      <vt:lpstr>Cambria Math</vt:lpstr>
      <vt:lpstr>Segoe UI Semibold</vt:lpstr>
      <vt:lpstr>Office Theme</vt:lpstr>
      <vt:lpstr>SPHERICAL SAMPLING</vt:lpstr>
      <vt:lpstr>Spherical Sampling</vt:lpstr>
      <vt:lpstr>Spherical Functions</vt:lpstr>
      <vt:lpstr>From 1D to 2D</vt:lpstr>
      <vt:lpstr>From 1D to 2D</vt:lpstr>
      <vt:lpstr>Spherical Harmonics</vt:lpstr>
      <vt:lpstr>The Complex Exponential</vt:lpstr>
      <vt:lpstr>The Associated Legendre Polynomials</vt:lpstr>
      <vt:lpstr>Spherical Harmonics</vt:lpstr>
      <vt:lpstr>Spherical Harmonics Pyramid</vt:lpstr>
      <vt:lpstr>Forward and Inverse SHT</vt:lpstr>
      <vt:lpstr>Bandlimited Functions</vt:lpstr>
      <vt:lpstr>Discrete Spherical Harmonic Transform</vt:lpstr>
      <vt:lpstr>Spherical Sampling Schemes</vt:lpstr>
      <vt:lpstr>Driscoll-Healy Equiangular Grid, Symmetric Spacing</vt:lpstr>
      <vt:lpstr>PowerPoint Presentation</vt:lpstr>
      <vt:lpstr>Gauss-Legendre</vt:lpstr>
      <vt:lpstr>Polyhedral Grids Polyhedron inscribed in a sphere (Vertices as Sample Points)</vt:lpstr>
      <vt:lpstr>Polyhedral Grids Vertices + Midpoints of Edges</vt:lpstr>
      <vt:lpstr>Polyhedral Grids Vertices + Midpoints of Edges + Centers of Faces</vt:lpstr>
      <vt:lpstr>Polyhedral Grids Vertices + Midpoints of Edges + Subdivided Faces</vt:lpstr>
      <vt:lpstr>Polyhedral Grids Advantages and Trade-offs</vt:lpstr>
      <vt:lpstr>Which Sampling Scheme Should We Use?</vt:lpstr>
      <vt:lpstr>PowerPoint Presentation</vt:lpstr>
      <vt:lpstr>Symmetries of the Sphere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John Domingo</dc:creator>
  <cp:lastModifiedBy>Edward John Domingo</cp:lastModifiedBy>
  <cp:revision>21</cp:revision>
  <cp:lastPrinted>2026-04-13T12:06:13Z</cp:lastPrinted>
  <dcterms:created xsi:type="dcterms:W3CDTF">2026-04-11T00:51:09Z</dcterms:created>
  <dcterms:modified xsi:type="dcterms:W3CDTF">2026-04-16T10:03:24Z</dcterms:modified>
</cp:coreProperties>
</file>